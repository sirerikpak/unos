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12FF0-1F5B-644B-8054-56A26E4299F6}" v="162" dt="2024-05-13T19:06:53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1"/>
    <p:restoredTop sz="95880"/>
  </p:normalViewPr>
  <p:slideViewPr>
    <p:cSldViewPr snapToGrid="0">
      <p:cViewPr varScale="1">
        <p:scale>
          <a:sx n="149" d="100"/>
          <a:sy n="149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k, Erik" userId="d671f3b3-6b32-4fb2-a8f3-2d45ae172703" providerId="ADAL" clId="{58812FF0-1F5B-644B-8054-56A26E4299F6}"/>
    <pc:docChg chg="undo custSel modSld">
      <pc:chgData name="Pak, Erik" userId="d671f3b3-6b32-4fb2-a8f3-2d45ae172703" providerId="ADAL" clId="{58812FF0-1F5B-644B-8054-56A26E4299F6}" dt="2024-05-13T19:07:00.055" v="66" actId="478"/>
      <pc:docMkLst>
        <pc:docMk/>
      </pc:docMkLst>
      <pc:sldChg chg="addSp delSp modSp mod">
        <pc:chgData name="Pak, Erik" userId="d671f3b3-6b32-4fb2-a8f3-2d45ae172703" providerId="ADAL" clId="{58812FF0-1F5B-644B-8054-56A26E4299F6}" dt="2024-05-13T19:07:00.055" v="66" actId="478"/>
        <pc:sldMkLst>
          <pc:docMk/>
          <pc:sldMk cId="1445944966" sldId="256"/>
        </pc:sldMkLst>
        <pc:spChg chg="add del mod">
          <ac:chgData name="Pak, Erik" userId="d671f3b3-6b32-4fb2-a8f3-2d45ae172703" providerId="ADAL" clId="{58812FF0-1F5B-644B-8054-56A26E4299F6}" dt="2024-05-13T19:07:00.055" v="66" actId="478"/>
          <ac:spMkLst>
            <pc:docMk/>
            <pc:sldMk cId="1445944966" sldId="256"/>
            <ac:spMk id="2" creationId="{50B5EB12-3C00-48EA-D7C8-714789CD9261}"/>
          </ac:spMkLst>
        </pc:spChg>
      </pc:sldChg>
      <pc:sldChg chg="modSp mod">
        <pc:chgData name="Pak, Erik" userId="d671f3b3-6b32-4fb2-a8f3-2d45ae172703" providerId="ADAL" clId="{58812FF0-1F5B-644B-8054-56A26E4299F6}" dt="2024-05-12T19:59:20.332" v="64" actId="20577"/>
        <pc:sldMkLst>
          <pc:docMk/>
          <pc:sldMk cId="3726487975" sldId="260"/>
        </pc:sldMkLst>
        <pc:spChg chg="mod">
          <ac:chgData name="Pak, Erik" userId="d671f3b3-6b32-4fb2-a8f3-2d45ae172703" providerId="ADAL" clId="{58812FF0-1F5B-644B-8054-56A26E4299F6}" dt="2024-05-12T19:59:20.332" v="64" actId="20577"/>
          <ac:spMkLst>
            <pc:docMk/>
            <pc:sldMk cId="3726487975" sldId="260"/>
            <ac:spMk id="3" creationId="{DD7BA22B-FB2E-F845-9F43-B77A09B51B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24B7-1390-CDFC-B309-C05A8A94C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8E75B-AA8B-8E97-6E07-5EE492D73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44177-319E-34C9-4A35-4AF923A8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F99CE-9ABE-D101-49D2-03549D6E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18BD6-4DC5-CE91-1FCD-32E601D3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0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9EF5-F2D9-F06C-41FC-A8A64651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70B8-A3A8-1865-9161-5F7CC6A92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BE197-9910-A2FB-5172-57F7FC07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CA7E8-8CE0-35EE-5797-DD0DDBF2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13476-7E29-C8FF-8C40-B027C044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9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DCC-E8A0-28D6-1079-99635319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8BC3-F3E1-FFCF-2E83-A2A670BDA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E7A9-D20F-D657-9CD0-31E30E01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06A2-FA45-8ABD-AC76-031F59BB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3FDA1-5F76-BB39-62EA-D6F6FEB0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3AB7-A095-6719-C317-03BDBF8A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8A2F-1259-E9DB-AE4C-9E96C04D6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B8EF6-10B9-7CA7-9FB3-DA87F6C0D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954C1-F2A0-2CC9-5237-DE7FBFC2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D64B0-4AA1-1F3D-615D-64C22799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A31F2-5C2B-854E-F335-348B18EE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8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306F-8854-A174-8898-9967063C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660F4-71F8-EDF9-FD06-5989FA57B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47D4B-EBA3-3526-E36B-E540EBB84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FC5D7-193B-B2F0-2253-2DCAF660A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C2278-B4B9-3C6D-7ABF-501342ACC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E1F1F-5B1E-DA29-F359-5C09A631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32AA1-665F-8E9B-AE37-7500D6D4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D80FF-C4BD-53E6-8C31-6301245A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1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E130-341F-D36E-6558-148651BB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129D1-1092-61DE-CE25-57D48FB3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BD61A-AAE9-83D9-A15B-1433E14E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2E618-A080-650C-41A3-707CADB8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03187-0397-667B-2746-F4F4A17F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3517C-5C65-7372-8A2D-4844F7CF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96AD5-294B-7FEC-CF05-52BFE10D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4980-DE9B-B40D-939A-9F5AF7F3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0D54D-A90F-C754-0E75-1378BC032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25AE-BFA6-322F-DEF8-A5919974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F4688-AFE7-96AF-4370-5C2D648E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67E11-9399-A852-76C6-042A902A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5A4F-390C-8860-170F-BFF99CB3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C8A7-D90D-76A6-00BD-E2922FB8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3E989-274F-000C-F4AF-59E2FF0C9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CF170-B6DA-38F4-7E1C-C7CC56D6E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8B312-A358-B933-332B-4CA7BF56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AD0F-72E4-7061-7FBC-9B1D0DE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9C981-F89F-6AA9-6ED4-B8B1CA8C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0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6064-64B0-7FB4-2B0E-B6887700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92EA5-B2DA-F3E4-E836-B38008AE0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B2133-77EB-480C-E2CF-355FEE75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9F64-22C5-44E5-8B06-FC952CD2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5C01E-1B11-8330-694A-CFA522F0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1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31B74-E373-04E9-9DDB-929C65602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31840-4458-EB4E-C655-33A3218A6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64767-CF9D-8D98-528D-814CFF57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45A5-8249-0C81-0E51-0685342C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790CC-8D90-6716-3998-E530D32C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84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8F53A-37A2-BA32-FF7D-94A6AA99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4D001-3C10-3F49-AA1A-C7C00C91E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41EED-504A-BF16-6D31-0A6DBD80E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35AFF-5D54-391E-1C46-DF1DC95A0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1554E-90F0-353C-3849-B42502A20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3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09CEAD-068E-3816-0EA3-C7C7AC94D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71222" cy="2440416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United Network for Organ Sharing (UNOS) </a:t>
            </a:r>
          </a:p>
          <a:p>
            <a:pPr algn="l"/>
            <a:r>
              <a:rPr lang="en-US" b="1" i="0" dirty="0">
                <a:effectLst/>
                <a:latin typeface="system-ui"/>
              </a:rPr>
              <a:t>				</a:t>
            </a:r>
            <a:r>
              <a:rPr lang="en-US" i="0" dirty="0">
                <a:effectLst/>
                <a:latin typeface="system-ui"/>
              </a:rPr>
              <a:t>Discretization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Erik Pak</a:t>
            </a:r>
          </a:p>
        </p:txBody>
      </p:sp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870E196C-D436-AFC3-ED34-FFB85983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74588"/>
            <a:ext cx="9671222" cy="302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4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57EFE-34D8-8FE0-6845-07C776EE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B48E-2E31-DE1D-0D69-BB54CC0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E0A4-B463-1960-2BC1-980918A0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65941" cy="50323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Remove &amp; C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onsolidate</a:t>
            </a:r>
            <a:r>
              <a:rPr lang="en-US" dirty="0"/>
              <a:t> &amp; Engineer Additional Features</a:t>
            </a:r>
          </a:p>
          <a:p>
            <a:pPr lvl="1"/>
            <a:r>
              <a:rPr lang="en-US" dirty="0"/>
              <a:t>Age/Creatinine/ for Donor &amp; Candidate</a:t>
            </a:r>
          </a:p>
          <a:p>
            <a:pPr lvl="2"/>
            <a:r>
              <a:rPr lang="en-US" dirty="0"/>
              <a:t>Difference/Addition/Interaction/Mean</a:t>
            </a:r>
          </a:p>
          <a:p>
            <a:pPr lvl="1"/>
            <a:r>
              <a:rPr lang="en-US" dirty="0"/>
              <a:t>Consolidate Numeric features</a:t>
            </a:r>
          </a:p>
          <a:p>
            <a:pPr lvl="2"/>
            <a:r>
              <a:rPr lang="en-US" dirty="0"/>
              <a:t>Hemodynamics: refers to the study of blood flow</a:t>
            </a:r>
          </a:p>
          <a:p>
            <a:pPr lvl="3"/>
            <a:r>
              <a:rPr lang="en-US" dirty="0">
                <a:latin typeface="system-ui"/>
              </a:rPr>
              <a:t>Registration &amp; Transplant</a:t>
            </a:r>
          </a:p>
          <a:p>
            <a:pPr lvl="4"/>
            <a:r>
              <a:rPr lang="en-US" dirty="0">
                <a:latin typeface="system-ui"/>
              </a:rPr>
              <a:t>Hemodynamics_SYS_CAN: Systolic blood pressure. (mmHg)</a:t>
            </a:r>
          </a:p>
          <a:p>
            <a:pPr lvl="4"/>
            <a:r>
              <a:rPr lang="en-US" dirty="0">
                <a:latin typeface="system-ui"/>
              </a:rPr>
              <a:t>Hemodynamics_PA_DIA_CAN: Pulmonary artery diastolic pressure. (mmHg)</a:t>
            </a:r>
          </a:p>
          <a:p>
            <a:pPr lvl="4"/>
            <a:r>
              <a:rPr lang="en-US" dirty="0">
                <a:latin typeface="system-ui"/>
              </a:rPr>
              <a:t>Hemodynamics_PA_MN_CAN: Pulmonary artery mean pressure. (mmHg)</a:t>
            </a:r>
          </a:p>
          <a:p>
            <a:pPr lvl="4"/>
            <a:r>
              <a:rPr lang="en-US" dirty="0">
                <a:latin typeface="system-ui"/>
              </a:rPr>
              <a:t>Hemodynamics_PCW_CAN: Pulmonary capillary wedge pressure. (mmHg)</a:t>
            </a:r>
          </a:p>
          <a:p>
            <a:pPr lvl="4"/>
            <a:r>
              <a:rPr lang="en-US" dirty="0">
                <a:latin typeface="system-ui"/>
              </a:rPr>
              <a:t>Hemodynamics_CO_CAN: Cardiac output. (L/min)</a:t>
            </a:r>
          </a:p>
          <a:p>
            <a:pPr lvl="3"/>
            <a:r>
              <a:rPr lang="en-US" dirty="0">
                <a:latin typeface="system-ui"/>
              </a:rPr>
              <a:t>Combine &amp; Interaction SYS/PA_DIA/PA_MIN/PWC</a:t>
            </a:r>
          </a:p>
          <a:p>
            <a:pPr lvl="4"/>
            <a:r>
              <a:rPr lang="en-US" dirty="0">
                <a:latin typeface="system-ui"/>
              </a:rPr>
              <a:t>Correlation above positive .8</a:t>
            </a:r>
          </a:p>
          <a:p>
            <a:pPr lvl="2"/>
            <a:r>
              <a:rPr lang="en-US" dirty="0">
                <a:latin typeface="system-ui"/>
              </a:rPr>
              <a:t>Any Life Support into a new single ordinal feature.</a:t>
            </a:r>
          </a:p>
          <a:p>
            <a:pPr lvl="3"/>
            <a:r>
              <a:rPr lang="en-US" dirty="0">
                <a:latin typeface="system-ui"/>
              </a:rPr>
              <a:t>Total Count for all ‘Yes’</a:t>
            </a:r>
          </a:p>
          <a:p>
            <a:pPr lvl="2"/>
            <a:r>
              <a:rPr lang="en-US" dirty="0">
                <a:latin typeface="system-ui"/>
              </a:rPr>
              <a:t>Age/Weight/Height</a:t>
            </a:r>
          </a:p>
          <a:p>
            <a:pPr lvl="3"/>
            <a:r>
              <a:rPr lang="en-US" dirty="0">
                <a:latin typeface="system-ui"/>
              </a:rPr>
              <a:t>New feature: difference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6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A843-E369-8640-99E9-41E421E0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i="0" dirty="0">
                <a:effectLst/>
                <a:latin typeface="system-ui"/>
              </a:rPr>
              <a:t>Discretization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23AA86-0347-E907-00E5-311F89AD9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5664573" cy="3453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2BFCFD-99BB-9C59-7239-0B6BA5CA3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5144568"/>
            <a:ext cx="5664573" cy="150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1343B1-AAF5-6824-B3D2-3333C05B7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773" y="1690688"/>
            <a:ext cx="5308227" cy="49627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2CCEB0-1850-0A8F-DE91-C9F4140C0D6D}"/>
              </a:ext>
            </a:extLst>
          </p:cNvPr>
          <p:cNvSpPr txBox="1"/>
          <p:nvPr/>
        </p:nvSpPr>
        <p:spPr>
          <a:xfrm>
            <a:off x="2290273" y="2556177"/>
            <a:ext cx="4212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Gaussian Mixture Model (GMM) with different numbers of </a:t>
            </a:r>
          </a:p>
          <a:p>
            <a:r>
              <a:rPr lang="en-US" sz="1200" dirty="0"/>
              <a:t>components (clusters) and use information criteria (AIC and BIC) to determine the optimal number of. components.</a:t>
            </a:r>
          </a:p>
        </p:txBody>
      </p:sp>
    </p:spTree>
    <p:extLst>
      <p:ext uri="{BB962C8B-B14F-4D97-AF65-F5344CB8AC3E}">
        <p14:creationId xmlns:p14="http://schemas.microsoft.com/office/powerpoint/2010/main" val="217503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9C752-93BC-F419-5948-7264ADA7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2952-89F8-0913-362C-C0AC719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i="0" dirty="0">
                <a:effectLst/>
                <a:latin typeface="system-ui"/>
              </a:rPr>
              <a:t>Discretization </a:t>
            </a:r>
            <a:r>
              <a:rPr lang="en-US" dirty="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9A7DE-E367-BE1F-3E68-83500AB5F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75491" cy="109703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Blood PH</a:t>
            </a:r>
          </a:p>
          <a:p>
            <a:pPr lvl="1"/>
            <a:r>
              <a:rPr lang="en-US" sz="1200" dirty="0"/>
              <a:t>The normal blood pH range is indeed between 7.35 and 7.45. This slightly alkaline range is crucial for the proper functioning of enzymes and other biochemical reactions in the body.</a:t>
            </a:r>
          </a:p>
          <a:p>
            <a:pPr lvl="1"/>
            <a:r>
              <a:rPr lang="en-US" sz="1200" dirty="0"/>
              <a:t>A blood pH below 7.35 is considered acidic, and it can lead to a condition called acidosis. Acidosis can disrupt cellular functions and impair organ systems, particularly the cardiovascular and respiratory systems.</a:t>
            </a:r>
          </a:p>
          <a:p>
            <a:pPr lvl="1"/>
            <a:r>
              <a:rPr lang="en-US" sz="1200" dirty="0"/>
              <a:t>A blood pH above 7.45 is considered alkaline, and it can lead to a condition called alkalosis. Alkalosis can cause symptoms such as muscle twitching, hand tremors, and confusion.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9C8CF-A77F-4EA0-27D1-95D14E9D8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68" y="3345694"/>
            <a:ext cx="5075491" cy="2705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013F3-8C9B-E132-6198-386F5CE5BC8F}"/>
              </a:ext>
            </a:extLst>
          </p:cNvPr>
          <p:cNvSpPr txBox="1"/>
          <p:nvPr/>
        </p:nvSpPr>
        <p:spPr>
          <a:xfrm>
            <a:off x="6853727" y="1825625"/>
            <a:ext cx="4742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system-ui"/>
              </a:rPr>
              <a:t>DistanceFromDonorHospitaltoTXCenter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A6C16-2934-844B-3CC2-6796154D2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93" y="2194957"/>
            <a:ext cx="5075490" cy="2301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FA2FE1-A606-638B-2E04-31F64023D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92" y="4496431"/>
            <a:ext cx="5075491" cy="216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2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C5946-99BF-03C4-402A-A13FA1FC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FA81-E25E-A2DA-4C46-CB4760F1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>
              <a:lnSpc>
                <a:spcPts val="2700"/>
              </a:lnSpc>
            </a:pPr>
            <a:r>
              <a:rPr lang="en-US" dirty="0"/>
              <a:t>ML: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C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andidate &amp; Donor Features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F00BDAF-3836-16C7-8C9B-38751834C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40970"/>
            <a:ext cx="10842171" cy="53775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B7AC6A-FD4B-4EB8-2151-0B808F937112}"/>
              </a:ext>
            </a:extLst>
          </p:cNvPr>
          <p:cNvSpPr/>
          <p:nvPr/>
        </p:nvSpPr>
        <p:spPr>
          <a:xfrm>
            <a:off x="1850572" y="4103913"/>
            <a:ext cx="9711888" cy="261257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30432-111F-2480-A1FA-8229D95E5B6F}"/>
              </a:ext>
            </a:extLst>
          </p:cNvPr>
          <p:cNvSpPr/>
          <p:nvPr/>
        </p:nvSpPr>
        <p:spPr>
          <a:xfrm>
            <a:off x="1298962" y="5617030"/>
            <a:ext cx="10263498" cy="347933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8ECB3-24E7-2DA8-EC21-5666E41B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087B-8946-178B-CC2E-990AEBC5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>
              <a:lnSpc>
                <a:spcPts val="2700"/>
              </a:lnSpc>
            </a:pPr>
            <a:r>
              <a:rPr lang="en-US" dirty="0"/>
              <a:t>ML: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C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andidate &amp; 11 Features for Both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ADDA66-47E8-7B67-B1BB-E05B4A0AB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39140"/>
            <a:ext cx="11091729" cy="53667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CB43DDA-82A9-EA12-594D-2515BBC39FE9}"/>
              </a:ext>
            </a:extLst>
          </p:cNvPr>
          <p:cNvSpPr/>
          <p:nvPr/>
        </p:nvSpPr>
        <p:spPr>
          <a:xfrm flipV="1">
            <a:off x="2013857" y="4038600"/>
            <a:ext cx="9818914" cy="293914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0B197-A3EA-55D6-2684-BF73F9BA2506}"/>
              </a:ext>
            </a:extLst>
          </p:cNvPr>
          <p:cNvSpPr/>
          <p:nvPr/>
        </p:nvSpPr>
        <p:spPr>
          <a:xfrm flipV="1">
            <a:off x="1458686" y="4691743"/>
            <a:ext cx="10374085" cy="381000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9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151DC-70FC-23DB-BB61-2CC110C5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C5F71F-A735-1A34-C603-5C18CE516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202" y="2875645"/>
            <a:ext cx="9671222" cy="2440416"/>
          </a:xfrm>
        </p:spPr>
        <p:txBody>
          <a:bodyPr>
            <a:normAutofit/>
          </a:bodyPr>
          <a:lstStyle/>
          <a:p>
            <a:r>
              <a:rPr lang="en-US" sz="4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5646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331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Google Sans</vt:lpstr>
      <vt:lpstr>Helvetica Neue</vt:lpstr>
      <vt:lpstr>system-ui</vt:lpstr>
      <vt:lpstr>Office Theme</vt:lpstr>
      <vt:lpstr>PowerPoint Presentation</vt:lpstr>
      <vt:lpstr>Data Engineering</vt:lpstr>
      <vt:lpstr>Data Discretization</vt:lpstr>
      <vt:lpstr>Data Discretization Cont…</vt:lpstr>
      <vt:lpstr>ML: Candidate &amp; Donor Features</vt:lpstr>
      <vt:lpstr>ML: Candidate &amp; 11 Features for Both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Pak, Erik</dc:creator>
  <cp:lastModifiedBy>Erik Pak</cp:lastModifiedBy>
  <cp:revision>9</cp:revision>
  <dcterms:created xsi:type="dcterms:W3CDTF">2024-05-12T16:59:59Z</dcterms:created>
  <dcterms:modified xsi:type="dcterms:W3CDTF">2025-03-05T19:42:05Z</dcterms:modified>
</cp:coreProperties>
</file>