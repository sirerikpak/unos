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4" r:id="rId6"/>
    <p:sldId id="260" r:id="rId7"/>
    <p:sldId id="272" r:id="rId8"/>
    <p:sldId id="273" r:id="rId9"/>
    <p:sldId id="274" r:id="rId10"/>
    <p:sldId id="275" r:id="rId11"/>
    <p:sldId id="277" r:id="rId12"/>
    <p:sldId id="278" r:id="rId13"/>
    <p:sldId id="263" r:id="rId14"/>
    <p:sldId id="262" r:id="rId15"/>
    <p:sldId id="261" r:id="rId16"/>
    <p:sldId id="279" r:id="rId17"/>
    <p:sldId id="280" r:id="rId18"/>
    <p:sldId id="281" r:id="rId19"/>
    <p:sldId id="282" r:id="rId20"/>
    <p:sldId id="283"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0"/>
    <p:restoredTop sz="96327"/>
  </p:normalViewPr>
  <p:slideViewPr>
    <p:cSldViewPr snapToGrid="0">
      <p:cViewPr>
        <p:scale>
          <a:sx n="118" d="100"/>
          <a:sy n="118" d="100"/>
        </p:scale>
        <p:origin x="-28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F2989-BA0A-344F-8006-04E38B6EDEEE}" type="datetimeFigureOut">
              <a:rPr lang="en-US" smtClean="0"/>
              <a:t>11/25/24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08458-91FC-B743-8604-AFB6A2AE3766}" type="slidenum">
              <a:rPr lang="en-US" smtClean="0"/>
              <a:t>‹#›</a:t>
            </a:fld>
            <a:endParaRPr lang="en-US"/>
          </a:p>
        </p:txBody>
      </p:sp>
    </p:spTree>
    <p:extLst>
      <p:ext uri="{BB962C8B-B14F-4D97-AF65-F5344CB8AC3E}">
        <p14:creationId xmlns:p14="http://schemas.microsoft.com/office/powerpoint/2010/main" val="1072653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A08458-91FC-B743-8604-AFB6A2AE3766}" type="slidenum">
              <a:rPr lang="en-US" smtClean="0"/>
              <a:t>11</a:t>
            </a:fld>
            <a:endParaRPr lang="en-US"/>
          </a:p>
        </p:txBody>
      </p:sp>
    </p:spTree>
    <p:extLst>
      <p:ext uri="{BB962C8B-B14F-4D97-AF65-F5344CB8AC3E}">
        <p14:creationId xmlns:p14="http://schemas.microsoft.com/office/powerpoint/2010/main" val="427995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F24B7-1390-CDFC-B309-C05A8A94CD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8E75B-AA8B-8E97-6E07-5EE492D734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544177-319E-34C9-4A35-4AF923A806B6}"/>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020F99CE-9ABE-D101-49D2-03549D6EC4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18BD6-4DC5-CE91-1FCD-32E601D3C08A}"/>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74190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9EF5-F2D9-F06C-41FC-A8A64651E9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AA70B8-A3A8-1865-9161-5F7CC6A92B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BE197-9910-A2FB-5172-57F7FC0758F2}"/>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2E6CA7E8-8CE0-35EE-5797-DD0DDBF22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F13476-7E29-C8FF-8C40-B027C044C738}"/>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378519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E1DCC-E8A0-28D6-1079-99635319F4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2F8BC3-F3E1-FFCF-2E83-A2A670BDAC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88E7A9-D20F-D657-9CD0-31E30E01018E}"/>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C3C206A2-FA45-8ABD-AC76-031F59BB3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A3FDA1-5F76-BB39-62EA-D6F6FEB07F23}"/>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84049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33AB7-A095-6719-C317-03BDBF8A22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868A2F-1259-E9DB-AE4C-9E96C04D61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9B8EF6-10B9-7CA7-9FB3-DA87F6C0D7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0954C1-F2A0-2CC9-5237-DE7FBFC2FF5C}"/>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6" name="Footer Placeholder 5">
            <a:extLst>
              <a:ext uri="{FF2B5EF4-FFF2-40B4-BE49-F238E27FC236}">
                <a16:creationId xmlns:a16="http://schemas.microsoft.com/office/drawing/2014/main" id="{EFFD64B0-4AA1-1F3D-615D-64C2279940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FA31F2-5C2B-854E-F335-348B18EE7D37}"/>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2749282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9306F-8854-A174-8898-9967063C890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B660F4-71F8-EDF9-FD06-5989FA57B8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A47D4B-EBA3-3526-E36B-E540EBB848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2FC5D7-193B-B2F0-2253-2DCAF660A8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FC2278-B4B9-3C6D-7ABF-501342ACC7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9E1F1F-5B1E-DA29-F359-5C09A631EDFA}"/>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8" name="Footer Placeholder 7">
            <a:extLst>
              <a:ext uri="{FF2B5EF4-FFF2-40B4-BE49-F238E27FC236}">
                <a16:creationId xmlns:a16="http://schemas.microsoft.com/office/drawing/2014/main" id="{93532AA1-665F-8E9B-AE37-7500D6D41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FD80FF-C4BD-53E6-8C31-6301245AF6CC}"/>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1961416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4E130-341F-D36E-6558-148651BB6BD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7129D1-1092-61DE-CE25-57D48FB37D3B}"/>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4" name="Footer Placeholder 3">
            <a:extLst>
              <a:ext uri="{FF2B5EF4-FFF2-40B4-BE49-F238E27FC236}">
                <a16:creationId xmlns:a16="http://schemas.microsoft.com/office/drawing/2014/main" id="{C51BD61A-AAE9-83D9-A15B-1433E14E1A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12E618-A080-650C-41A3-707CADB8D6B3}"/>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2100903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803187-0397-667B-2746-F4F4A17FBF2B}"/>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3" name="Footer Placeholder 2">
            <a:extLst>
              <a:ext uri="{FF2B5EF4-FFF2-40B4-BE49-F238E27FC236}">
                <a16:creationId xmlns:a16="http://schemas.microsoft.com/office/drawing/2014/main" id="{90B3517C-5C65-7372-8A2D-4844F7CFA5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696AD5-294B-7FEC-CF05-52BFE10D76F1}"/>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41175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4980-DE9B-B40D-939A-9F5AF7F36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A0D54D-A90F-C754-0E75-1378BC0325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5325AE-BFA6-322F-DEF8-A5919974A9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6F4688-AFE7-96AF-4370-5C2D648E294A}"/>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6" name="Footer Placeholder 5">
            <a:extLst>
              <a:ext uri="{FF2B5EF4-FFF2-40B4-BE49-F238E27FC236}">
                <a16:creationId xmlns:a16="http://schemas.microsoft.com/office/drawing/2014/main" id="{6B467E11-9399-A852-76C6-042A902A85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D55A4F-390C-8860-170F-BFF99CB37BE4}"/>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326621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DC8A7-D90D-76A6-00BD-E2922FB850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F3E989-274F-000C-F4AF-59E2FF0C9F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0CF170-B6DA-38F4-7E1C-C7CC56D6E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38B312-A358-B933-332B-4CA7BF56DC19}"/>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6" name="Footer Placeholder 5">
            <a:extLst>
              <a:ext uri="{FF2B5EF4-FFF2-40B4-BE49-F238E27FC236}">
                <a16:creationId xmlns:a16="http://schemas.microsoft.com/office/drawing/2014/main" id="{C526AD0F-72E4-7061-7FBC-9B1D0DE6A0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A9C981-F89F-6AA9-6ED4-B8B1CA8C4974}"/>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3138005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6064-64B0-7FB4-2B0E-B68877009C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992EA5-B2DA-F3E4-E836-B38008AE08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EB2133-77EB-480C-E2CF-355FEE75897D}"/>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A4DD9F64-22C5-44E5-8B06-FC952CD2A8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F5C01E-1B11-8330-694A-CFA522F0A5C8}"/>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1508110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531B74-E373-04E9-9DDB-929C656028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931840-4458-EB4E-C655-33A3218A6D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764767-CF9D-8D98-528D-814CFF5733E6}"/>
              </a:ext>
            </a:extLst>
          </p:cNvPr>
          <p:cNvSpPr>
            <a:spLocks noGrp="1"/>
          </p:cNvSpPr>
          <p:nvPr>
            <p:ph type="dt" sz="half" idx="10"/>
          </p:nvPr>
        </p:nvSpPr>
        <p:spPr/>
        <p:txBody>
          <a:body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3E3545A5-8249-0C81-0E51-0685342C1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5790CC-8D90-6716-3998-E530D32C1BDF}"/>
              </a:ext>
            </a:extLst>
          </p:cNvPr>
          <p:cNvSpPr>
            <a:spLocks noGrp="1"/>
          </p:cNvSpPr>
          <p:nvPr>
            <p:ph type="sldNum" sz="quarter" idx="12"/>
          </p:nvPr>
        </p:nvSpPr>
        <p:spPr/>
        <p:txBody>
          <a:bodyPr/>
          <a:lstStyle/>
          <a:p>
            <a:fld id="{B4A9B96A-5DAE-EF42-8B33-9CAA10D43361}" type="slidenum">
              <a:rPr lang="en-US" smtClean="0"/>
              <a:t>‹#›</a:t>
            </a:fld>
            <a:endParaRPr lang="en-US"/>
          </a:p>
        </p:txBody>
      </p:sp>
    </p:spTree>
    <p:extLst>
      <p:ext uri="{BB962C8B-B14F-4D97-AF65-F5344CB8AC3E}">
        <p14:creationId xmlns:p14="http://schemas.microsoft.com/office/powerpoint/2010/main" val="2925984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08F53A-37A2-BA32-FF7D-94A6AA994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A4D001-3C10-3F49-AA1A-C7C00C91E6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241EED-504A-BF16-6D31-0A6DBD80E0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D22C33-92AE-0541-8515-527705C5F446}" type="datetimeFigureOut">
              <a:rPr lang="en-US" smtClean="0"/>
              <a:t>11/25/24</a:t>
            </a:fld>
            <a:endParaRPr lang="en-US"/>
          </a:p>
        </p:txBody>
      </p:sp>
      <p:sp>
        <p:nvSpPr>
          <p:cNvPr id="5" name="Footer Placeholder 4">
            <a:extLst>
              <a:ext uri="{FF2B5EF4-FFF2-40B4-BE49-F238E27FC236}">
                <a16:creationId xmlns:a16="http://schemas.microsoft.com/office/drawing/2014/main" id="{6CA35AFF-5D54-391E-1C46-DF1DC95A00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D1554E-90F0-353C-3849-B42502A203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A9B96A-5DAE-EF42-8B33-9CAA10D43361}" type="slidenum">
              <a:rPr lang="en-US" smtClean="0"/>
              <a:t>‹#›</a:t>
            </a:fld>
            <a:endParaRPr lang="en-US"/>
          </a:p>
        </p:txBody>
      </p:sp>
    </p:spTree>
    <p:extLst>
      <p:ext uri="{BB962C8B-B14F-4D97-AF65-F5344CB8AC3E}">
        <p14:creationId xmlns:p14="http://schemas.microsoft.com/office/powerpoint/2010/main" val="1700232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ciencedirect.com/science/article/pii/S1071916418308601?casa_token=uWQ6iU8m1XEAAAAA:sJpQ9QVqJhBPv0XWP8wHa4kh5WZ87-k0RcI63fu4NWdiLktvTe6W8l7lhEAmul9dvjIxv9eP1uCx" TargetMode="External"/><Relationship Id="rId7" Type="http://schemas.openxmlformats.org/officeDocument/2006/relationships/hyperlink" Target="https://www.sciencedirect.com/science/article/abs/pii/S1053249822018824" TargetMode="External"/><Relationship Id="rId2" Type="http://schemas.openxmlformats.org/officeDocument/2006/relationships/hyperlink" Target="https://scholar.google.com/scholar?hl=en&amp;as_sdt=0%2C14&amp;q=Heart+Transplant+Outcome+Prediction+using+UNOS+Data&amp;btnG="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0003497511022740?casa_token=ahvb27zeXT0AAAAA:1Sy13CuV6aW88G1dC2LQYHGs_tD60vVpCWr-R5n6PmP9JFv3yo1z0CXCnkEvAdfYCXIZIPXioE6p" TargetMode="External"/><Relationship Id="rId5" Type="http://schemas.openxmlformats.org/officeDocument/2006/relationships/hyperlink" Target="https://onlinelibrary.wiley.com/doi/full/10.1111/j.1600-6135.2004.00401.x" TargetMode="External"/><Relationship Id="rId4" Type="http://schemas.openxmlformats.org/officeDocument/2006/relationships/hyperlink" Target="https://ojs.aaai.org/index.php/AAAI/article/view/107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A09CEAD-068E-3816-0EA3-C7C7AC94DDB7}"/>
              </a:ext>
            </a:extLst>
          </p:cNvPr>
          <p:cNvSpPr>
            <a:spLocks noGrp="1"/>
          </p:cNvSpPr>
          <p:nvPr>
            <p:ph type="subTitle" idx="1"/>
          </p:nvPr>
        </p:nvSpPr>
        <p:spPr>
          <a:xfrm>
            <a:off x="1524000" y="3602038"/>
            <a:ext cx="9671222" cy="2440416"/>
          </a:xfrm>
        </p:spPr>
        <p:txBody>
          <a:bodyPr>
            <a:normAutofit/>
          </a:bodyPr>
          <a:lstStyle/>
          <a:p>
            <a:r>
              <a:rPr lang="en-US" dirty="0">
                <a:effectLst/>
                <a:latin typeface="Helvetica Neue" panose="02000503000000020004" pitchFamily="2" charset="0"/>
              </a:rPr>
              <a:t>United Network for Organ Sharing (UNOS) </a:t>
            </a:r>
          </a:p>
          <a:p>
            <a:endParaRPr lang="en-US" dirty="0"/>
          </a:p>
          <a:p>
            <a:endParaRPr lang="en-US" dirty="0"/>
          </a:p>
          <a:p>
            <a:r>
              <a:rPr lang="en-US" dirty="0"/>
              <a:t>Erik Pak</a:t>
            </a:r>
          </a:p>
        </p:txBody>
      </p:sp>
      <p:pic>
        <p:nvPicPr>
          <p:cNvPr id="5" name="Picture 4" descr="A screenshot of a web page&#10;&#10;Description automatically generated">
            <a:extLst>
              <a:ext uri="{FF2B5EF4-FFF2-40B4-BE49-F238E27FC236}">
                <a16:creationId xmlns:a16="http://schemas.microsoft.com/office/drawing/2014/main" id="{870E196C-D436-AFC3-ED34-FFB85983C8C8}"/>
              </a:ext>
            </a:extLst>
          </p:cNvPr>
          <p:cNvPicPr>
            <a:picLocks noChangeAspect="1"/>
          </p:cNvPicPr>
          <p:nvPr/>
        </p:nvPicPr>
        <p:blipFill>
          <a:blip r:embed="rId2"/>
          <a:stretch>
            <a:fillRect/>
          </a:stretch>
        </p:blipFill>
        <p:spPr>
          <a:xfrm>
            <a:off x="1524000" y="574588"/>
            <a:ext cx="9671222" cy="3027449"/>
          </a:xfrm>
          <a:prstGeom prst="rect">
            <a:avLst/>
          </a:prstGeom>
        </p:spPr>
      </p:pic>
    </p:spTree>
    <p:extLst>
      <p:ext uri="{BB962C8B-B14F-4D97-AF65-F5344CB8AC3E}">
        <p14:creationId xmlns:p14="http://schemas.microsoft.com/office/powerpoint/2010/main" val="1445944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CA843-E369-8640-99E9-41E421E0ECBC}"/>
              </a:ext>
            </a:extLst>
          </p:cNvPr>
          <p:cNvSpPr>
            <a:spLocks noGrp="1"/>
          </p:cNvSpPr>
          <p:nvPr>
            <p:ph type="title"/>
          </p:nvPr>
        </p:nvSpPr>
        <p:spPr/>
        <p:txBody>
          <a:bodyPr/>
          <a:lstStyle/>
          <a:p>
            <a:r>
              <a:rPr lang="en-US" dirty="0"/>
              <a:t>Overall Data Description</a:t>
            </a:r>
          </a:p>
        </p:txBody>
      </p:sp>
      <p:sp>
        <p:nvSpPr>
          <p:cNvPr id="3" name="Content Placeholder 2">
            <a:extLst>
              <a:ext uri="{FF2B5EF4-FFF2-40B4-BE49-F238E27FC236}">
                <a16:creationId xmlns:a16="http://schemas.microsoft.com/office/drawing/2014/main" id="{D023D7EA-A15E-A260-40C2-5E4340777B51}"/>
              </a:ext>
            </a:extLst>
          </p:cNvPr>
          <p:cNvSpPr>
            <a:spLocks noGrp="1"/>
          </p:cNvSpPr>
          <p:nvPr>
            <p:ph idx="1"/>
          </p:nvPr>
        </p:nvSpPr>
        <p:spPr>
          <a:xfrm>
            <a:off x="838200" y="1690687"/>
            <a:ext cx="10727724" cy="4802187"/>
          </a:xfrm>
        </p:spPr>
        <p:txBody>
          <a:bodyPr>
            <a:normAutofit fontScale="92500" lnSpcReduction="10000"/>
          </a:bodyPr>
          <a:lstStyle/>
          <a:p>
            <a:r>
              <a:rPr lang="en-US" dirty="0"/>
              <a:t>Number of features: 546 &amp; Number of rows: 200,217</a:t>
            </a:r>
          </a:p>
          <a:p>
            <a:r>
              <a:rPr lang="en-US" dirty="0"/>
              <a:t>Type of Features</a:t>
            </a:r>
          </a:p>
          <a:p>
            <a:pPr lvl="1"/>
            <a:r>
              <a:rPr lang="en-US" dirty="0">
                <a:solidFill>
                  <a:srgbClr val="000000"/>
                </a:solidFill>
              </a:rPr>
              <a:t>C</a:t>
            </a:r>
            <a:r>
              <a:rPr lang="en-US" b="0" i="0" u="none" strike="noStrike" dirty="0">
                <a:solidFill>
                  <a:srgbClr val="000000"/>
                </a:solidFill>
                <a:effectLst/>
              </a:rPr>
              <a:t>ategorical (nominal &amp; ordinal)</a:t>
            </a:r>
          </a:p>
          <a:p>
            <a:pPr lvl="1"/>
            <a:r>
              <a:rPr lang="en-US" dirty="0">
                <a:solidFill>
                  <a:srgbClr val="000000"/>
                </a:solidFill>
              </a:rPr>
              <a:t>C</a:t>
            </a:r>
            <a:r>
              <a:rPr lang="en-US" b="0" i="0" u="none" strike="noStrike" dirty="0">
                <a:solidFill>
                  <a:srgbClr val="000000"/>
                </a:solidFill>
                <a:effectLst/>
              </a:rPr>
              <a:t>ontinuous variables</a:t>
            </a:r>
          </a:p>
          <a:p>
            <a:r>
              <a:rPr lang="en-US" dirty="0"/>
              <a:t>Data from 1984 to 2021</a:t>
            </a:r>
          </a:p>
          <a:p>
            <a:pPr lvl="1"/>
            <a:r>
              <a:rPr lang="en-US" b="0" i="0" u="none" strike="noStrike" dirty="0">
                <a:solidFill>
                  <a:srgbClr val="000000"/>
                </a:solidFill>
                <a:effectLst/>
              </a:rPr>
              <a:t>Donors &amp; Recipients in a single row </a:t>
            </a:r>
            <a:endParaRPr lang="en-US" dirty="0"/>
          </a:p>
          <a:p>
            <a:r>
              <a:rPr lang="en-US" dirty="0"/>
              <a:t>Types of Transplant</a:t>
            </a:r>
          </a:p>
          <a:p>
            <a:pPr lvl="1"/>
            <a:r>
              <a:rPr lang="en-US" dirty="0"/>
              <a:t>Lung Transplant:</a:t>
            </a:r>
          </a:p>
          <a:p>
            <a:pPr lvl="2"/>
            <a:r>
              <a:rPr lang="en-US" dirty="0"/>
              <a:t>68,079 rows</a:t>
            </a:r>
          </a:p>
          <a:p>
            <a:pPr lvl="1"/>
            <a:r>
              <a:rPr lang="en-US" dirty="0"/>
              <a:t>Heart &amp; Lung Transplant:</a:t>
            </a:r>
          </a:p>
          <a:p>
            <a:pPr lvl="2"/>
            <a:r>
              <a:rPr lang="en-US" dirty="0"/>
              <a:t>3,495 rows</a:t>
            </a:r>
          </a:p>
          <a:p>
            <a:pPr lvl="1"/>
            <a:r>
              <a:rPr lang="en-US" dirty="0"/>
              <a:t>Heart Transplant:</a:t>
            </a:r>
          </a:p>
          <a:p>
            <a:pPr lvl="2"/>
            <a:r>
              <a:rPr lang="en-US" dirty="0"/>
              <a:t>128,215 rows </a:t>
            </a:r>
          </a:p>
        </p:txBody>
      </p:sp>
    </p:spTree>
    <p:extLst>
      <p:ext uri="{BB962C8B-B14F-4D97-AF65-F5344CB8AC3E}">
        <p14:creationId xmlns:p14="http://schemas.microsoft.com/office/powerpoint/2010/main" val="2175035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9C1FF-CAF8-485B-315A-EAFA966A227C}"/>
              </a:ext>
            </a:extLst>
          </p:cNvPr>
          <p:cNvSpPr>
            <a:spLocks noGrp="1"/>
          </p:cNvSpPr>
          <p:nvPr>
            <p:ph type="title"/>
          </p:nvPr>
        </p:nvSpPr>
        <p:spPr/>
        <p:txBody>
          <a:bodyPr/>
          <a:lstStyle/>
          <a:p>
            <a:r>
              <a:rPr lang="en-US" dirty="0"/>
              <a:t>Heart Transplant Data</a:t>
            </a:r>
          </a:p>
        </p:txBody>
      </p:sp>
      <p:sp>
        <p:nvSpPr>
          <p:cNvPr id="3" name="Content Placeholder 2">
            <a:extLst>
              <a:ext uri="{FF2B5EF4-FFF2-40B4-BE49-F238E27FC236}">
                <a16:creationId xmlns:a16="http://schemas.microsoft.com/office/drawing/2014/main" id="{C73D2470-1756-D143-C603-F131BA23D1C0}"/>
              </a:ext>
            </a:extLst>
          </p:cNvPr>
          <p:cNvSpPr>
            <a:spLocks noGrp="1"/>
          </p:cNvSpPr>
          <p:nvPr>
            <p:ph idx="1"/>
          </p:nvPr>
        </p:nvSpPr>
        <p:spPr/>
        <p:txBody>
          <a:bodyPr>
            <a:normAutofit/>
          </a:bodyPr>
          <a:lstStyle/>
          <a:p>
            <a:r>
              <a:rPr lang="en-US" b="0" i="0" u="none" strike="noStrike" dirty="0">
                <a:solidFill>
                  <a:srgbClr val="000000"/>
                </a:solidFill>
                <a:effectLst/>
              </a:rPr>
              <a:t>Selection criteria: </a:t>
            </a:r>
          </a:p>
          <a:p>
            <a:pPr lvl="1"/>
            <a:r>
              <a:rPr lang="en-US" dirty="0">
                <a:solidFill>
                  <a:srgbClr val="000000"/>
                </a:solidFill>
              </a:rPr>
              <a:t>WL_ORG == ‘HR’</a:t>
            </a:r>
          </a:p>
          <a:p>
            <a:pPr lvl="1"/>
            <a:r>
              <a:rPr lang="en-US" dirty="0"/>
              <a:t>LISTYR</a:t>
            </a:r>
            <a:r>
              <a:rPr lang="en-US" dirty="0">
                <a:solidFill>
                  <a:srgbClr val="000000"/>
                </a:solidFill>
              </a:rPr>
              <a:t> &gt; 2001</a:t>
            </a:r>
          </a:p>
          <a:p>
            <a:pPr lvl="1"/>
            <a:r>
              <a:rPr lang="en-US" dirty="0"/>
              <a:t>AGE_GROUP == ‘A’</a:t>
            </a:r>
          </a:p>
          <a:p>
            <a:pPr lvl="1"/>
            <a:r>
              <a:rPr lang="en-US" b="0" i="0" u="none" strike="noStrike" dirty="0">
                <a:solidFill>
                  <a:srgbClr val="000000"/>
                </a:solidFill>
                <a:effectLst/>
              </a:rPr>
              <a:t>Remove feature containing greater than 80% Nulls</a:t>
            </a:r>
          </a:p>
          <a:p>
            <a:endParaRPr lang="en-US" dirty="0">
              <a:solidFill>
                <a:srgbClr val="000000"/>
              </a:solidFill>
            </a:endParaRPr>
          </a:p>
          <a:p>
            <a:r>
              <a:rPr lang="en-US" dirty="0">
                <a:solidFill>
                  <a:srgbClr val="000000"/>
                </a:solidFill>
              </a:rPr>
              <a:t>After Selection</a:t>
            </a:r>
          </a:p>
          <a:p>
            <a:pPr lvl="1"/>
            <a:r>
              <a:rPr lang="en-US" dirty="0"/>
              <a:t>New Number of columns: 317</a:t>
            </a:r>
            <a:endParaRPr lang="en-US" dirty="0">
              <a:solidFill>
                <a:srgbClr val="000000"/>
              </a:solidFill>
            </a:endParaRPr>
          </a:p>
          <a:p>
            <a:pPr lvl="1"/>
            <a:r>
              <a:rPr lang="en-US" dirty="0"/>
              <a:t>Total number of rows: 27,494</a:t>
            </a:r>
            <a:endParaRPr lang="en-US" b="0" i="0" u="none" strike="noStrike" dirty="0">
              <a:solidFill>
                <a:srgbClr val="000000"/>
              </a:solidFill>
              <a:effectLst/>
            </a:endParaRPr>
          </a:p>
        </p:txBody>
      </p:sp>
    </p:spTree>
    <p:extLst>
      <p:ext uri="{BB962C8B-B14F-4D97-AF65-F5344CB8AC3E}">
        <p14:creationId xmlns:p14="http://schemas.microsoft.com/office/powerpoint/2010/main" val="1749738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9F2F-3373-B16E-6CFF-6C2EF8A94CAA}"/>
              </a:ext>
            </a:extLst>
          </p:cNvPr>
          <p:cNvSpPr>
            <a:spLocks noGrp="1"/>
          </p:cNvSpPr>
          <p:nvPr>
            <p:ph type="title"/>
          </p:nvPr>
        </p:nvSpPr>
        <p:spPr/>
        <p:txBody>
          <a:bodyPr/>
          <a:lstStyle/>
          <a:p>
            <a:r>
              <a:rPr lang="en-US" dirty="0"/>
              <a:t>Additional Data Cleaning</a:t>
            </a:r>
          </a:p>
        </p:txBody>
      </p:sp>
      <p:sp>
        <p:nvSpPr>
          <p:cNvPr id="3" name="Content Placeholder 2">
            <a:extLst>
              <a:ext uri="{FF2B5EF4-FFF2-40B4-BE49-F238E27FC236}">
                <a16:creationId xmlns:a16="http://schemas.microsoft.com/office/drawing/2014/main" id="{7CBA79D8-AEBC-9F88-19DC-91C14C2F368B}"/>
              </a:ext>
            </a:extLst>
          </p:cNvPr>
          <p:cNvSpPr>
            <a:spLocks noGrp="1"/>
          </p:cNvSpPr>
          <p:nvPr>
            <p:ph idx="1"/>
          </p:nvPr>
        </p:nvSpPr>
        <p:spPr>
          <a:xfrm>
            <a:off x="838199" y="1825624"/>
            <a:ext cx="10665941" cy="4667251"/>
          </a:xfrm>
        </p:spPr>
        <p:txBody>
          <a:bodyPr>
            <a:normAutofit/>
          </a:bodyPr>
          <a:lstStyle/>
          <a:p>
            <a:r>
              <a:rPr lang="en-US" dirty="0"/>
              <a:t>Remove Features</a:t>
            </a:r>
          </a:p>
          <a:p>
            <a:pPr lvl="1"/>
            <a:r>
              <a:rPr lang="en-US" dirty="0"/>
              <a:t>Encrypted Features</a:t>
            </a:r>
          </a:p>
          <a:p>
            <a:pPr lvl="2"/>
            <a:r>
              <a:rPr lang="en-US" dirty="0"/>
              <a:t>WL_ID_CODE: ENCRYPTED REGISTRATION IDENTIFIER</a:t>
            </a:r>
          </a:p>
          <a:p>
            <a:pPr lvl="1"/>
            <a:r>
              <a:rPr lang="en-US" dirty="0"/>
              <a:t>Correlation</a:t>
            </a:r>
          </a:p>
          <a:p>
            <a:pPr lvl="2"/>
            <a:r>
              <a:rPr lang="en-US" dirty="0"/>
              <a:t>Remove features</a:t>
            </a:r>
          </a:p>
          <a:p>
            <a:pPr lvl="3"/>
            <a:r>
              <a:rPr lang="en-US" dirty="0"/>
              <a:t>INHALED_NO and INHALED_NO_TCR @ 1.000</a:t>
            </a:r>
          </a:p>
          <a:p>
            <a:pPr lvl="2"/>
            <a:r>
              <a:rPr lang="en-US" dirty="0"/>
              <a:t>Impute missing data</a:t>
            </a:r>
          </a:p>
          <a:p>
            <a:pPr lvl="3"/>
            <a:r>
              <a:rPr lang="en-US" dirty="0"/>
              <a:t>Examine distribution</a:t>
            </a:r>
          </a:p>
          <a:p>
            <a:pPr lvl="4"/>
            <a:r>
              <a:rPr lang="en-US" dirty="0"/>
              <a:t>Mean: Normal distribution</a:t>
            </a:r>
          </a:p>
          <a:p>
            <a:pPr lvl="4"/>
            <a:r>
              <a:rPr lang="en-US" dirty="0"/>
              <a:t>Median: Skew distribution</a:t>
            </a:r>
          </a:p>
          <a:p>
            <a:pPr lvl="3"/>
            <a:r>
              <a:rPr lang="en-US" dirty="0"/>
              <a:t>Categorical</a:t>
            </a:r>
          </a:p>
          <a:p>
            <a:pPr lvl="4"/>
            <a:r>
              <a:rPr lang="en-US" dirty="0"/>
              <a:t>New category ‘U’: Unknown</a:t>
            </a:r>
          </a:p>
          <a:p>
            <a:r>
              <a:rPr lang="en-US" dirty="0"/>
              <a:t>Total of 27,494 records and 281 features</a:t>
            </a:r>
          </a:p>
          <a:p>
            <a:endParaRPr lang="en-US" dirty="0"/>
          </a:p>
        </p:txBody>
      </p:sp>
    </p:spTree>
    <p:extLst>
      <p:ext uri="{BB962C8B-B14F-4D97-AF65-F5344CB8AC3E}">
        <p14:creationId xmlns:p14="http://schemas.microsoft.com/office/powerpoint/2010/main" val="4242305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C30C819-58AA-75BE-C30E-525CBC6E8C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77921-F1F6-761C-5D37-398C5AB99671}"/>
              </a:ext>
            </a:extLst>
          </p:cNvPr>
          <p:cNvSpPr>
            <a:spLocks noGrp="1"/>
          </p:cNvSpPr>
          <p:nvPr>
            <p:ph type="title"/>
          </p:nvPr>
        </p:nvSpPr>
        <p:spPr/>
        <p:txBody>
          <a:bodyPr>
            <a:normAutofit/>
          </a:bodyPr>
          <a:lstStyle/>
          <a:p>
            <a:r>
              <a:rPr lang="en-US" dirty="0"/>
              <a:t>Donor's most frequently used medications.</a:t>
            </a:r>
          </a:p>
        </p:txBody>
      </p:sp>
      <p:pic>
        <p:nvPicPr>
          <p:cNvPr id="4" name="Content Placeholder 3">
            <a:extLst>
              <a:ext uri="{FF2B5EF4-FFF2-40B4-BE49-F238E27FC236}">
                <a16:creationId xmlns:a16="http://schemas.microsoft.com/office/drawing/2014/main" id="{765381D8-F084-D266-1496-C2D385563C71}"/>
              </a:ext>
            </a:extLst>
          </p:cNvPr>
          <p:cNvPicPr>
            <a:picLocks noGrp="1" noChangeAspect="1"/>
          </p:cNvPicPr>
          <p:nvPr>
            <p:ph idx="1"/>
          </p:nvPr>
        </p:nvPicPr>
        <p:blipFill>
          <a:blip r:embed="rId2"/>
          <a:stretch>
            <a:fillRect/>
          </a:stretch>
        </p:blipFill>
        <p:spPr>
          <a:xfrm>
            <a:off x="637308" y="2079318"/>
            <a:ext cx="6338455" cy="4612427"/>
          </a:xfrm>
          <a:prstGeom prst="rect">
            <a:avLst/>
          </a:prstGeom>
        </p:spPr>
      </p:pic>
      <p:sp>
        <p:nvSpPr>
          <p:cNvPr id="5" name="TextBox 4">
            <a:extLst>
              <a:ext uri="{FF2B5EF4-FFF2-40B4-BE49-F238E27FC236}">
                <a16:creationId xmlns:a16="http://schemas.microsoft.com/office/drawing/2014/main" id="{229D3621-E5E0-D4A6-C317-A62BCEC586A8}"/>
              </a:ext>
            </a:extLst>
          </p:cNvPr>
          <p:cNvSpPr txBox="1"/>
          <p:nvPr/>
        </p:nvSpPr>
        <p:spPr>
          <a:xfrm>
            <a:off x="6975764" y="2431360"/>
            <a:ext cx="4926676" cy="4062651"/>
          </a:xfrm>
          <a:prstGeom prst="rect">
            <a:avLst/>
          </a:prstGeom>
          <a:noFill/>
        </p:spPr>
        <p:txBody>
          <a:bodyPr wrap="square" rtlCol="0">
            <a:spAutoFit/>
          </a:bodyPr>
          <a:lstStyle/>
          <a:p>
            <a:pPr algn="l"/>
            <a:r>
              <a:rPr lang="en-US" sz="1200" b="1" i="0" dirty="0">
                <a:effectLst/>
                <a:latin typeface="system-ui"/>
              </a:rPr>
              <a:t>ZOSYN</a:t>
            </a:r>
            <a:r>
              <a:rPr lang="en-US" sz="1200" b="0" i="0" dirty="0">
                <a:effectLst/>
                <a:latin typeface="system-ui"/>
              </a:rPr>
              <a:t> (piperacillin and tazobactam for injection, USP) is an injectable antibacterial combination product consisting of the semisynthetic antibiotic piperacillin sodium and the </a:t>
            </a:r>
            <a:r>
              <a:rPr lang="el-GR" sz="1200" b="0" i="0" dirty="0">
                <a:effectLst/>
                <a:latin typeface="system-ui"/>
              </a:rPr>
              <a:t>β‑</a:t>
            </a:r>
            <a:r>
              <a:rPr lang="en-US" sz="1200" b="0" i="0" dirty="0">
                <a:effectLst/>
                <a:latin typeface="system-ui"/>
              </a:rPr>
              <a:t>lactamase inhibitor tazobactam sodium for intravenous administration. Piperacillin sodium is derived from D(-)-</a:t>
            </a:r>
            <a:r>
              <a:rPr lang="el-GR" sz="1200" b="0" i="0" dirty="0">
                <a:effectLst/>
                <a:latin typeface="system-ui"/>
              </a:rPr>
              <a:t>α-</a:t>
            </a:r>
            <a:r>
              <a:rPr lang="en-US" sz="1200" b="0" i="0" dirty="0">
                <a:effectLst/>
                <a:latin typeface="system-ui"/>
              </a:rPr>
              <a:t>aminobenzyl-penicillin.</a:t>
            </a:r>
          </a:p>
          <a:p>
            <a:pPr algn="l"/>
            <a:r>
              <a:rPr lang="en-US" sz="1200" b="1" i="0" dirty="0">
                <a:effectLst/>
                <a:latin typeface="system-ui"/>
              </a:rPr>
              <a:t>Rocuronium</a:t>
            </a:r>
            <a:r>
              <a:rPr lang="en-US" sz="1200" b="0" i="0" dirty="0">
                <a:effectLst/>
                <a:latin typeface="system-ui"/>
              </a:rPr>
              <a:t> is a non-depolarizing neuromuscular blocker widely used to produce muscle relaxation to help facilitate surgery and ventilation of the lungs in elective and emergent situations.</a:t>
            </a:r>
          </a:p>
          <a:p>
            <a:pPr algn="l"/>
            <a:r>
              <a:rPr lang="en-US" sz="1200" b="1" i="0" dirty="0">
                <a:effectLst/>
                <a:latin typeface="system-ui"/>
              </a:rPr>
              <a:t>Vancomycin</a:t>
            </a:r>
            <a:r>
              <a:rPr lang="en-US" sz="1200" b="0" i="0" dirty="0">
                <a:effectLst/>
                <a:latin typeface="system-ui"/>
              </a:rPr>
              <a:t> is a tricyclic glycopeptide antibiotic originally derived from the organism Streptococcus orientalis. Vancomycin is used to treat and prevent various bacterial infections caused by gram-positive bacteria, including methicillin-resistant Staphylococcus aureus (MRSA).</a:t>
            </a:r>
          </a:p>
          <a:p>
            <a:pPr algn="l"/>
            <a:r>
              <a:rPr lang="en-US" sz="1200" b="1" i="0" dirty="0">
                <a:effectLst/>
                <a:latin typeface="system-ui"/>
              </a:rPr>
              <a:t>Vecuronium</a:t>
            </a:r>
            <a:r>
              <a:rPr lang="en-US" sz="1200" b="0" i="0" dirty="0">
                <a:effectLst/>
                <a:latin typeface="system-ui"/>
              </a:rPr>
              <a:t> is a nondepolarizing agent that achieves skeletal muscle paralysis by competing with acetylcholine for cholinergic receptor sites and binding with the nicotinic cholinergic receptor at the postjunctional membrane of the motor endplate</a:t>
            </a:r>
          </a:p>
          <a:p>
            <a:pPr algn="l"/>
            <a:r>
              <a:rPr lang="en-US" sz="1200" b="1" i="0" dirty="0">
                <a:effectLst/>
                <a:latin typeface="system-ui"/>
              </a:rPr>
              <a:t>Albuterol</a:t>
            </a:r>
            <a:r>
              <a:rPr lang="en-US" sz="1200" b="0" i="0" dirty="0">
                <a:effectLst/>
                <a:latin typeface="system-ui"/>
              </a:rPr>
              <a:t> is used to prevent and treat difficulty breathing, wheezing, shortness of breath, coughing, and chest tightness caused by lung diseases such as asthma and chronic obstructive pulmonary disease (COPD; a group of diseases that affect the lungs and airways).</a:t>
            </a:r>
          </a:p>
          <a:p>
            <a:endParaRPr lang="en-US" dirty="0"/>
          </a:p>
        </p:txBody>
      </p:sp>
    </p:spTree>
    <p:extLst>
      <p:ext uri="{BB962C8B-B14F-4D97-AF65-F5344CB8AC3E}">
        <p14:creationId xmlns:p14="http://schemas.microsoft.com/office/powerpoint/2010/main" val="50983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AE57EFE-34D8-8FE0-6845-07C776EE1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3B48E-2E31-DE1D-0D69-BB54CC03520D}"/>
              </a:ext>
            </a:extLst>
          </p:cNvPr>
          <p:cNvSpPr>
            <a:spLocks noGrp="1"/>
          </p:cNvSpPr>
          <p:nvPr>
            <p:ph type="title"/>
          </p:nvPr>
        </p:nvSpPr>
        <p:spPr/>
        <p:txBody>
          <a:bodyPr/>
          <a:lstStyle/>
          <a:p>
            <a:r>
              <a:rPr lang="en-US" b="0" i="0" dirty="0">
                <a:solidFill>
                  <a:srgbClr val="001D35"/>
                </a:solidFill>
                <a:effectLst/>
                <a:latin typeface="Google Sans"/>
              </a:rPr>
              <a:t>Univariate Plots for Gender &amp; Ethnicity</a:t>
            </a:r>
            <a:endParaRPr lang="en-US" dirty="0"/>
          </a:p>
        </p:txBody>
      </p:sp>
      <p:sp>
        <p:nvSpPr>
          <p:cNvPr id="19" name="Content Placeholder 18">
            <a:extLst>
              <a:ext uri="{FF2B5EF4-FFF2-40B4-BE49-F238E27FC236}">
                <a16:creationId xmlns:a16="http://schemas.microsoft.com/office/drawing/2014/main" id="{0A323E0D-120C-8C2B-0F77-2EC9EAED10FE}"/>
              </a:ext>
            </a:extLst>
          </p:cNvPr>
          <p:cNvSpPr>
            <a:spLocks noGrp="1"/>
          </p:cNvSpPr>
          <p:nvPr>
            <p:ph idx="1"/>
          </p:nvPr>
        </p:nvSpPr>
        <p:spPr>
          <a:xfrm>
            <a:off x="838200" y="1238490"/>
            <a:ext cx="10515600" cy="1847205"/>
          </a:xfrm>
        </p:spPr>
        <p:txBody>
          <a:bodyPr>
            <a:normAutofit/>
          </a:bodyPr>
          <a:lstStyle/>
          <a:p>
            <a:r>
              <a:rPr lang="en-US" sz="1400" dirty="0"/>
              <a:t>CAN: Candidate</a:t>
            </a:r>
          </a:p>
          <a:p>
            <a:r>
              <a:rPr lang="en-US" sz="1400" dirty="0"/>
              <a:t>DON: Donor</a:t>
            </a:r>
          </a:p>
          <a:p>
            <a:pPr lvl="1"/>
            <a:r>
              <a:rPr lang="en-US" sz="1200" dirty="0"/>
              <a:t>The gender distribution in Gender_CAN and Gender_DON is similar, with about 70% males and 30% females. This indicates a consistent demographic pattern across candidates and donors, suggesting that males have a higher frequency of heart transplants in the UNOS dataset.</a:t>
            </a:r>
          </a:p>
          <a:p>
            <a:pPr lvl="1"/>
            <a:r>
              <a:rPr lang="en-US" sz="1200" dirty="0"/>
              <a:t>Ethnicity_CAN is predominantly White and non-Hispanic, followed by Black, non-Hispanic, and Hispanic/Latino, with smaller proportions of other ethnicities. In contrast, Ethnicity_DON shows higher proportions of Hispanic/Latino and Black, non-Hispanic individuals, while other ethnicities are less represented, highlighting demographic differences between recipients and donors.</a:t>
            </a:r>
          </a:p>
        </p:txBody>
      </p:sp>
      <p:pic>
        <p:nvPicPr>
          <p:cNvPr id="22" name="Picture 21">
            <a:extLst>
              <a:ext uri="{FF2B5EF4-FFF2-40B4-BE49-F238E27FC236}">
                <a16:creationId xmlns:a16="http://schemas.microsoft.com/office/drawing/2014/main" id="{7EFD3A8B-7357-B899-C20A-ACA19E095D1A}"/>
              </a:ext>
            </a:extLst>
          </p:cNvPr>
          <p:cNvPicPr>
            <a:picLocks noChangeAspect="1"/>
          </p:cNvPicPr>
          <p:nvPr/>
        </p:nvPicPr>
        <p:blipFill>
          <a:blip r:embed="rId2"/>
          <a:stretch>
            <a:fillRect/>
          </a:stretch>
        </p:blipFill>
        <p:spPr>
          <a:xfrm>
            <a:off x="838198" y="3085695"/>
            <a:ext cx="10515600" cy="1608881"/>
          </a:xfrm>
          <a:prstGeom prst="rect">
            <a:avLst/>
          </a:prstGeom>
        </p:spPr>
      </p:pic>
      <p:pic>
        <p:nvPicPr>
          <p:cNvPr id="23" name="Picture 22">
            <a:extLst>
              <a:ext uri="{FF2B5EF4-FFF2-40B4-BE49-F238E27FC236}">
                <a16:creationId xmlns:a16="http://schemas.microsoft.com/office/drawing/2014/main" id="{740284C2-1866-1DC7-899F-B5232499BA88}"/>
              </a:ext>
            </a:extLst>
          </p:cNvPr>
          <p:cNvPicPr>
            <a:picLocks noChangeAspect="1"/>
          </p:cNvPicPr>
          <p:nvPr/>
        </p:nvPicPr>
        <p:blipFill>
          <a:blip r:embed="rId3"/>
          <a:stretch>
            <a:fillRect/>
          </a:stretch>
        </p:blipFill>
        <p:spPr>
          <a:xfrm>
            <a:off x="838199" y="4694576"/>
            <a:ext cx="10515599" cy="1798299"/>
          </a:xfrm>
          <a:prstGeom prst="rect">
            <a:avLst/>
          </a:prstGeom>
        </p:spPr>
      </p:pic>
    </p:spTree>
    <p:extLst>
      <p:ext uri="{BB962C8B-B14F-4D97-AF65-F5344CB8AC3E}">
        <p14:creationId xmlns:p14="http://schemas.microsoft.com/office/powerpoint/2010/main" val="1380762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F5977F4-7F47-93EF-8F78-95125E7B36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2E998-3494-49E1-31F8-CAEB96CEC9F4}"/>
              </a:ext>
            </a:extLst>
          </p:cNvPr>
          <p:cNvSpPr>
            <a:spLocks noGrp="1"/>
          </p:cNvSpPr>
          <p:nvPr>
            <p:ph type="title"/>
          </p:nvPr>
        </p:nvSpPr>
        <p:spPr/>
        <p:txBody>
          <a:bodyPr/>
          <a:lstStyle/>
          <a:p>
            <a:r>
              <a:rPr lang="en-US" dirty="0">
                <a:solidFill>
                  <a:srgbClr val="001D35"/>
                </a:solidFill>
                <a:latin typeface="Google Sans"/>
              </a:rPr>
              <a:t>Blood Type &amp; Functional Status</a:t>
            </a:r>
            <a:endParaRPr lang="en-US" dirty="0"/>
          </a:p>
        </p:txBody>
      </p:sp>
      <p:sp>
        <p:nvSpPr>
          <p:cNvPr id="19" name="Content Placeholder 18">
            <a:extLst>
              <a:ext uri="{FF2B5EF4-FFF2-40B4-BE49-F238E27FC236}">
                <a16:creationId xmlns:a16="http://schemas.microsoft.com/office/drawing/2014/main" id="{8BD2A100-175E-4DDF-F1B9-FE6CCDB64B88}"/>
              </a:ext>
            </a:extLst>
          </p:cNvPr>
          <p:cNvSpPr>
            <a:spLocks noGrp="1"/>
          </p:cNvSpPr>
          <p:nvPr>
            <p:ph idx="1"/>
          </p:nvPr>
        </p:nvSpPr>
        <p:spPr>
          <a:xfrm>
            <a:off x="838200" y="1238489"/>
            <a:ext cx="10515600" cy="2334117"/>
          </a:xfrm>
        </p:spPr>
        <p:txBody>
          <a:bodyPr>
            <a:normAutofit/>
          </a:bodyPr>
          <a:lstStyle/>
          <a:p>
            <a:r>
              <a:rPr lang="en-US" sz="1400" dirty="0"/>
              <a:t>CAN: Candidate</a:t>
            </a:r>
          </a:p>
          <a:p>
            <a:r>
              <a:rPr lang="en-US" sz="1400" dirty="0"/>
              <a:t>DON: Donor</a:t>
            </a:r>
          </a:p>
          <a:p>
            <a:pPr lvl="1"/>
            <a:r>
              <a:rPr lang="en-US" sz="1200" dirty="0"/>
              <a:t>A1, A2, A1B, and A2B are subtypes of the ABO blood group system. A1 and A2 are subtypes of blood group A, while A1B and A2B are subtypes of blood group AB. The distinction lies in the density of A antigens on red blood cells, with A1 and A1B having more antigens than A2 and A2B. These subtypes can be clinically relevant, especially in transfusions, as individuals with the A2 or A2B subtype may produce anti-A1 antibodies.</a:t>
            </a:r>
          </a:p>
          <a:p>
            <a:pPr lvl="1"/>
            <a:r>
              <a:rPr lang="en-US" sz="1200" dirty="0"/>
              <a:t>Blood group O is the most prevalent in both datasets, but it is more dominant in BloodGroup_DON. Blood group A is the second most common in both, but its proportion is significantly higher in BloodGroup_CAN.</a:t>
            </a:r>
          </a:p>
          <a:p>
            <a:pPr lvl="1"/>
            <a:r>
              <a:rPr lang="en-US" sz="1200" dirty="0"/>
              <a:t>FunctionalStatus_CAN indicates a higher prevalence of severe health conditions than FollowUpFunctionalStatus_CAN, where many individuals are in better health or have unknown status.</a:t>
            </a:r>
          </a:p>
        </p:txBody>
      </p:sp>
      <p:pic>
        <p:nvPicPr>
          <p:cNvPr id="3" name="Picture 2">
            <a:extLst>
              <a:ext uri="{FF2B5EF4-FFF2-40B4-BE49-F238E27FC236}">
                <a16:creationId xmlns:a16="http://schemas.microsoft.com/office/drawing/2014/main" id="{44C04BC2-67BE-9148-8AC5-2D669D58C9B4}"/>
              </a:ext>
            </a:extLst>
          </p:cNvPr>
          <p:cNvPicPr>
            <a:picLocks noChangeAspect="1"/>
          </p:cNvPicPr>
          <p:nvPr/>
        </p:nvPicPr>
        <p:blipFill>
          <a:blip r:embed="rId2"/>
          <a:stretch>
            <a:fillRect/>
          </a:stretch>
        </p:blipFill>
        <p:spPr>
          <a:xfrm>
            <a:off x="838199" y="3572607"/>
            <a:ext cx="10515600" cy="1543403"/>
          </a:xfrm>
          <a:prstGeom prst="rect">
            <a:avLst/>
          </a:prstGeom>
        </p:spPr>
      </p:pic>
      <p:pic>
        <p:nvPicPr>
          <p:cNvPr id="4" name="Picture 3">
            <a:extLst>
              <a:ext uri="{FF2B5EF4-FFF2-40B4-BE49-F238E27FC236}">
                <a16:creationId xmlns:a16="http://schemas.microsoft.com/office/drawing/2014/main" id="{63C7525F-FFD2-472D-2A26-45CF566CF8A5}"/>
              </a:ext>
            </a:extLst>
          </p:cNvPr>
          <p:cNvPicPr>
            <a:picLocks noChangeAspect="1"/>
          </p:cNvPicPr>
          <p:nvPr/>
        </p:nvPicPr>
        <p:blipFill>
          <a:blip r:embed="rId3"/>
          <a:stretch>
            <a:fillRect/>
          </a:stretch>
        </p:blipFill>
        <p:spPr>
          <a:xfrm>
            <a:off x="838197" y="5116010"/>
            <a:ext cx="10515599" cy="1741990"/>
          </a:xfrm>
          <a:prstGeom prst="rect">
            <a:avLst/>
          </a:prstGeom>
        </p:spPr>
      </p:pic>
    </p:spTree>
    <p:extLst>
      <p:ext uri="{BB962C8B-B14F-4D97-AF65-F5344CB8AC3E}">
        <p14:creationId xmlns:p14="http://schemas.microsoft.com/office/powerpoint/2010/main" val="87573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2746A94-095C-7254-96DF-6046FC3B8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57709-31E9-14A4-8C7A-A71770D7B1E4}"/>
              </a:ext>
            </a:extLst>
          </p:cNvPr>
          <p:cNvSpPr>
            <a:spLocks noGrp="1"/>
          </p:cNvSpPr>
          <p:nvPr>
            <p:ph type="title"/>
          </p:nvPr>
        </p:nvSpPr>
        <p:spPr/>
        <p:txBody>
          <a:bodyPr/>
          <a:lstStyle/>
          <a:p>
            <a:r>
              <a:rPr lang="en-US" dirty="0"/>
              <a:t>Death Circumstance/Mechanism &amp; Age</a:t>
            </a:r>
          </a:p>
        </p:txBody>
      </p:sp>
      <p:sp>
        <p:nvSpPr>
          <p:cNvPr id="19" name="Content Placeholder 18">
            <a:extLst>
              <a:ext uri="{FF2B5EF4-FFF2-40B4-BE49-F238E27FC236}">
                <a16:creationId xmlns:a16="http://schemas.microsoft.com/office/drawing/2014/main" id="{86078335-450F-1E9F-A3C2-DD6E1BC44755}"/>
              </a:ext>
            </a:extLst>
          </p:cNvPr>
          <p:cNvSpPr>
            <a:spLocks noGrp="1"/>
          </p:cNvSpPr>
          <p:nvPr>
            <p:ph idx="1"/>
          </p:nvPr>
        </p:nvSpPr>
        <p:spPr>
          <a:xfrm>
            <a:off x="838200" y="1238489"/>
            <a:ext cx="10515600" cy="1751749"/>
          </a:xfrm>
        </p:spPr>
        <p:txBody>
          <a:bodyPr>
            <a:normAutofit/>
          </a:bodyPr>
          <a:lstStyle/>
          <a:p>
            <a:r>
              <a:rPr lang="en-US" sz="1400" dirty="0"/>
              <a:t>CAN: Candidate</a:t>
            </a:r>
          </a:p>
          <a:p>
            <a:r>
              <a:rPr lang="en-US" sz="1400" dirty="0"/>
              <a:t>DON: Donor</a:t>
            </a:r>
          </a:p>
          <a:p>
            <a:pPr lvl="1"/>
            <a:r>
              <a:rPr lang="en-US" sz="1200" dirty="0"/>
              <a:t>The most common death circumstances are natural causes, non-motor vehicle accidents, and motor vehicle accidents, with natural causes being the most frequent. In terms of death mechanisms, blunt injury and drug intoxication are the leading causes, followed by gunshot wounds and intracranial hemorrhage/stroke. </a:t>
            </a:r>
          </a:p>
          <a:p>
            <a:pPr lvl="1"/>
            <a:r>
              <a:rPr lang="en-US" sz="1200" dirty="0"/>
              <a:t>The histogram indicates that the Age_CAN group is generally older than the AgeCalc_DON group, which has a younger age distribution.</a:t>
            </a:r>
          </a:p>
        </p:txBody>
      </p:sp>
      <p:pic>
        <p:nvPicPr>
          <p:cNvPr id="5" name="Picture 4">
            <a:extLst>
              <a:ext uri="{FF2B5EF4-FFF2-40B4-BE49-F238E27FC236}">
                <a16:creationId xmlns:a16="http://schemas.microsoft.com/office/drawing/2014/main" id="{E4C07EC7-896E-B804-D3CF-BD2B6EEE9C1E}"/>
              </a:ext>
            </a:extLst>
          </p:cNvPr>
          <p:cNvPicPr>
            <a:picLocks noChangeAspect="1"/>
          </p:cNvPicPr>
          <p:nvPr/>
        </p:nvPicPr>
        <p:blipFill>
          <a:blip r:embed="rId2"/>
          <a:stretch>
            <a:fillRect/>
          </a:stretch>
        </p:blipFill>
        <p:spPr>
          <a:xfrm>
            <a:off x="838200" y="3014340"/>
            <a:ext cx="10515599" cy="1751748"/>
          </a:xfrm>
          <a:prstGeom prst="rect">
            <a:avLst/>
          </a:prstGeom>
        </p:spPr>
      </p:pic>
      <p:pic>
        <p:nvPicPr>
          <p:cNvPr id="6" name="Picture 5">
            <a:extLst>
              <a:ext uri="{FF2B5EF4-FFF2-40B4-BE49-F238E27FC236}">
                <a16:creationId xmlns:a16="http://schemas.microsoft.com/office/drawing/2014/main" id="{1E514880-2037-E09F-8DC1-0B955EB00C2F}"/>
              </a:ext>
            </a:extLst>
          </p:cNvPr>
          <p:cNvPicPr>
            <a:picLocks noChangeAspect="1"/>
          </p:cNvPicPr>
          <p:nvPr/>
        </p:nvPicPr>
        <p:blipFill>
          <a:blip r:embed="rId3"/>
          <a:stretch>
            <a:fillRect/>
          </a:stretch>
        </p:blipFill>
        <p:spPr>
          <a:xfrm>
            <a:off x="838199" y="4766088"/>
            <a:ext cx="10515599" cy="2020929"/>
          </a:xfrm>
          <a:prstGeom prst="rect">
            <a:avLst/>
          </a:prstGeom>
        </p:spPr>
      </p:pic>
    </p:spTree>
    <p:extLst>
      <p:ext uri="{BB962C8B-B14F-4D97-AF65-F5344CB8AC3E}">
        <p14:creationId xmlns:p14="http://schemas.microsoft.com/office/powerpoint/2010/main" val="250231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E17DF84-0915-9D11-A844-32B5E1F52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B539CD-9E80-A170-EED1-572CB026F21D}"/>
              </a:ext>
            </a:extLst>
          </p:cNvPr>
          <p:cNvSpPr>
            <a:spLocks noGrp="1"/>
          </p:cNvSpPr>
          <p:nvPr>
            <p:ph type="title"/>
          </p:nvPr>
        </p:nvSpPr>
        <p:spPr/>
        <p:txBody>
          <a:bodyPr/>
          <a:lstStyle/>
          <a:p>
            <a:r>
              <a:rPr lang="en-US" dirty="0"/>
              <a:t>Patient’s Experience</a:t>
            </a:r>
          </a:p>
        </p:txBody>
      </p:sp>
      <p:sp>
        <p:nvSpPr>
          <p:cNvPr id="19" name="Content Placeholder 18">
            <a:extLst>
              <a:ext uri="{FF2B5EF4-FFF2-40B4-BE49-F238E27FC236}">
                <a16:creationId xmlns:a16="http://schemas.microsoft.com/office/drawing/2014/main" id="{2A37E94F-A348-0C53-456D-E5B6A8508651}"/>
              </a:ext>
            </a:extLst>
          </p:cNvPr>
          <p:cNvSpPr>
            <a:spLocks noGrp="1"/>
          </p:cNvSpPr>
          <p:nvPr>
            <p:ph idx="1"/>
          </p:nvPr>
        </p:nvSpPr>
        <p:spPr>
          <a:xfrm>
            <a:off x="838200" y="1238489"/>
            <a:ext cx="10515600" cy="1751749"/>
          </a:xfrm>
        </p:spPr>
        <p:txBody>
          <a:bodyPr>
            <a:normAutofit fontScale="62500" lnSpcReduction="20000"/>
          </a:bodyPr>
          <a:lstStyle/>
          <a:p>
            <a:r>
              <a:rPr lang="en-US" sz="1400" dirty="0"/>
              <a:t>CAN: Candidate</a:t>
            </a:r>
          </a:p>
          <a:p>
            <a:r>
              <a:rPr lang="en-US" sz="1400" dirty="0"/>
              <a:t>DON: Donor</a:t>
            </a:r>
          </a:p>
          <a:p>
            <a:pPr lvl="1"/>
            <a:r>
              <a:rPr lang="en-US" sz="1500" b="1" i="0" u="none" strike="noStrike" dirty="0">
                <a:solidFill>
                  <a:srgbClr val="0E101A"/>
                </a:solidFill>
                <a:effectLst/>
              </a:rPr>
              <a:t>DistanceFrom_HospitaltoTXCenter</a:t>
            </a:r>
            <a:r>
              <a:rPr lang="en-US" sz="1500" b="0" i="0" u="none" strike="noStrike" dirty="0">
                <a:solidFill>
                  <a:srgbClr val="0E101A"/>
                </a:solidFill>
                <a:effectLst/>
              </a:rPr>
              <a:t>: The average distance from the hospital to the transplant center is roughly 200 miles, ranging from 0 to over 2,000, indicating significant distance variability.</a:t>
            </a:r>
          </a:p>
          <a:p>
            <a:pPr lvl="1"/>
            <a:r>
              <a:rPr lang="en-US" sz="1500" b="1" i="0" u="none" strike="noStrike" dirty="0">
                <a:solidFill>
                  <a:srgbClr val="0E101A"/>
                </a:solidFill>
                <a:effectLst/>
              </a:rPr>
              <a:t>IschemicTimeHours_DON</a:t>
            </a:r>
            <a:r>
              <a:rPr lang="en-US" sz="1500" b="0" i="0" u="none" strike="noStrike" dirty="0">
                <a:solidFill>
                  <a:srgbClr val="0E101A"/>
                </a:solidFill>
                <a:effectLst/>
              </a:rPr>
              <a:t>: The average ischemic time is around 3 hours, with most values falling between 2 and 4 hours and a maximum of 12 hours.</a:t>
            </a:r>
          </a:p>
          <a:p>
            <a:pPr lvl="1"/>
            <a:r>
              <a:rPr lang="en-US" sz="1500" b="1" i="0" u="none" strike="noStrike" dirty="0">
                <a:solidFill>
                  <a:srgbClr val="0E101A"/>
                </a:solidFill>
                <a:effectLst/>
              </a:rPr>
              <a:t>LengthOfStay_CAN</a:t>
            </a:r>
            <a:r>
              <a:rPr lang="en-US" sz="1500" b="0" i="0" u="none" strike="noStrike" dirty="0">
                <a:solidFill>
                  <a:srgbClr val="0E101A"/>
                </a:solidFill>
                <a:effectLst/>
              </a:rPr>
              <a:t>: The average length of stay is around 20 days, with a wide range from 0 to over 600 days, suggesting some patients have extended hospital stays.</a:t>
            </a:r>
          </a:p>
          <a:p>
            <a:pPr lvl="1"/>
            <a:r>
              <a:rPr lang="en-US" sz="1500" b="1" i="0" u="none" strike="noStrike" dirty="0">
                <a:solidFill>
                  <a:srgbClr val="0E101A"/>
                </a:solidFill>
                <a:effectLst/>
              </a:rPr>
              <a:t>TotalDayWaitList_CAN</a:t>
            </a:r>
            <a:r>
              <a:rPr lang="en-US" sz="1500" b="0" i="0" u="none" strike="noStrike" dirty="0">
                <a:solidFill>
                  <a:srgbClr val="0E101A"/>
                </a:solidFill>
                <a:effectLst/>
              </a:rPr>
              <a:t>: The average number of days on the waitlist is around 200, with a significant standard deviation indicating that some patients wait much longer than others, up to a maximum of over 3,000 days.</a:t>
            </a:r>
          </a:p>
          <a:p>
            <a:pPr lvl="1"/>
            <a:r>
              <a:rPr lang="en-US" sz="1500" b="0" i="0" u="none" strike="noStrike" dirty="0">
                <a:solidFill>
                  <a:srgbClr val="0E101A"/>
                </a:solidFill>
                <a:effectLst/>
              </a:rPr>
              <a:t>These plots provide an overview of the dataset's variability and central tendencies, highlighting patients' diverse experiences in terms of distance traveled, ischemic time, hospital stay, and waitlist duration.</a:t>
            </a:r>
          </a:p>
          <a:p>
            <a:r>
              <a:rPr lang="en-US" sz="1600" dirty="0">
                <a:solidFill>
                  <a:srgbClr val="0E101A"/>
                </a:solidFill>
              </a:rPr>
              <a:t>Note: </a:t>
            </a:r>
            <a:r>
              <a:rPr lang="en-US" sz="1800" b="0" i="0" dirty="0">
                <a:solidFill>
                  <a:srgbClr val="001D35"/>
                </a:solidFill>
                <a:effectLst/>
                <a:latin typeface="Google Sans"/>
              </a:rPr>
              <a:t>Ischemic time is the amount of time an organ or tissue is deprived of blood supply</a:t>
            </a:r>
            <a:endParaRPr lang="en-US" sz="1800" b="0" i="0" u="none" strike="noStrike" dirty="0">
              <a:solidFill>
                <a:srgbClr val="0E101A"/>
              </a:solidFill>
              <a:effectLst/>
            </a:endParaRPr>
          </a:p>
          <a:p>
            <a:pPr lvl="1"/>
            <a:endParaRPr lang="en-US" sz="1000" dirty="0"/>
          </a:p>
        </p:txBody>
      </p:sp>
      <p:pic>
        <p:nvPicPr>
          <p:cNvPr id="4" name="Picture 3">
            <a:extLst>
              <a:ext uri="{FF2B5EF4-FFF2-40B4-BE49-F238E27FC236}">
                <a16:creationId xmlns:a16="http://schemas.microsoft.com/office/drawing/2014/main" id="{7D5E9656-85DB-FA26-9E9D-11C01068DC8C}"/>
              </a:ext>
            </a:extLst>
          </p:cNvPr>
          <p:cNvPicPr>
            <a:picLocks noChangeAspect="1"/>
          </p:cNvPicPr>
          <p:nvPr/>
        </p:nvPicPr>
        <p:blipFill>
          <a:blip r:embed="rId2"/>
          <a:stretch>
            <a:fillRect/>
          </a:stretch>
        </p:blipFill>
        <p:spPr>
          <a:xfrm>
            <a:off x="838199" y="4979886"/>
            <a:ext cx="10515599" cy="1868266"/>
          </a:xfrm>
          <a:prstGeom prst="rect">
            <a:avLst/>
          </a:prstGeom>
        </p:spPr>
      </p:pic>
      <p:pic>
        <p:nvPicPr>
          <p:cNvPr id="7" name="Picture 6">
            <a:extLst>
              <a:ext uri="{FF2B5EF4-FFF2-40B4-BE49-F238E27FC236}">
                <a16:creationId xmlns:a16="http://schemas.microsoft.com/office/drawing/2014/main" id="{D34A2ED5-6A7B-0904-5353-14CECAB07548}"/>
              </a:ext>
            </a:extLst>
          </p:cNvPr>
          <p:cNvPicPr>
            <a:picLocks noChangeAspect="1"/>
          </p:cNvPicPr>
          <p:nvPr/>
        </p:nvPicPr>
        <p:blipFill>
          <a:blip r:embed="rId3"/>
          <a:stretch>
            <a:fillRect/>
          </a:stretch>
        </p:blipFill>
        <p:spPr>
          <a:xfrm>
            <a:off x="838198" y="3100902"/>
            <a:ext cx="10515599" cy="1878984"/>
          </a:xfrm>
          <a:prstGeom prst="rect">
            <a:avLst/>
          </a:prstGeom>
        </p:spPr>
      </p:pic>
    </p:spTree>
    <p:extLst>
      <p:ext uri="{BB962C8B-B14F-4D97-AF65-F5344CB8AC3E}">
        <p14:creationId xmlns:p14="http://schemas.microsoft.com/office/powerpoint/2010/main" val="422799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A76F172-22D5-8DB4-526D-F9CA1078A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6408A-EB1A-59A2-5239-19DB4078A95A}"/>
              </a:ext>
            </a:extLst>
          </p:cNvPr>
          <p:cNvSpPr>
            <a:spLocks noGrp="1"/>
          </p:cNvSpPr>
          <p:nvPr>
            <p:ph type="title"/>
          </p:nvPr>
        </p:nvSpPr>
        <p:spPr/>
        <p:txBody>
          <a:bodyPr/>
          <a:lstStyle/>
          <a:p>
            <a:pPr algn="l"/>
            <a:r>
              <a:rPr lang="en-US" i="0" dirty="0">
                <a:effectLst/>
              </a:rPr>
              <a:t>Multivariate Plots: </a:t>
            </a:r>
            <a:br>
              <a:rPr lang="en-US" i="0" dirty="0">
                <a:effectLst/>
              </a:rPr>
            </a:br>
            <a:r>
              <a:rPr lang="en-US" i="0" dirty="0">
                <a:effectLst/>
              </a:rPr>
              <a:t>Ethnicity &amp; Age &amp; Gender</a:t>
            </a:r>
          </a:p>
        </p:txBody>
      </p:sp>
      <p:sp>
        <p:nvSpPr>
          <p:cNvPr id="19" name="Content Placeholder 18">
            <a:extLst>
              <a:ext uri="{FF2B5EF4-FFF2-40B4-BE49-F238E27FC236}">
                <a16:creationId xmlns:a16="http://schemas.microsoft.com/office/drawing/2014/main" id="{9AB36A81-9A3B-F27F-D5AF-4A2BFB18B9C3}"/>
              </a:ext>
            </a:extLst>
          </p:cNvPr>
          <p:cNvSpPr>
            <a:spLocks noGrp="1"/>
          </p:cNvSpPr>
          <p:nvPr>
            <p:ph idx="1"/>
          </p:nvPr>
        </p:nvSpPr>
        <p:spPr>
          <a:xfrm>
            <a:off x="838200" y="1586753"/>
            <a:ext cx="10515600" cy="1403485"/>
          </a:xfrm>
        </p:spPr>
        <p:txBody>
          <a:bodyPr>
            <a:normAutofit fontScale="62500" lnSpcReduction="20000"/>
          </a:bodyPr>
          <a:lstStyle/>
          <a:p>
            <a:r>
              <a:rPr lang="en-US" sz="1400" dirty="0"/>
              <a:t>CAN: Candidate</a:t>
            </a:r>
          </a:p>
          <a:p>
            <a:r>
              <a:rPr lang="en-US" sz="1400" dirty="0"/>
              <a:t>DON: Donor</a:t>
            </a:r>
          </a:p>
          <a:p>
            <a:pPr lvl="1"/>
            <a:r>
              <a:rPr lang="en-US" sz="1600" dirty="0"/>
              <a:t>An analysis of donor demographics across various ethnicities uncovers notable gender and age disparities in organ donation patterns. The data reveals that female donors, on average, are older than their male counterparts across all ethnic groups, highlighting a consistent gender-based difference in donation age. Among female donors, those identified as multiracial and non-Hispanic exhibit the lowest average age. This intriguing finding suggests that younger women from mixed ethnic backgrounds may be more likely to become organ donors than other demographic groups in the UNOS dataset.</a:t>
            </a:r>
          </a:p>
          <a:p>
            <a:pPr lvl="1"/>
            <a:r>
              <a:rPr lang="en-US" sz="1600" b="0" i="0" dirty="0">
                <a:effectLst/>
                <a:latin typeface="__fkGroteskNeue_598ab8"/>
              </a:rPr>
              <a:t>An analysis of candidate demographics across various ethnicities in the UNOS dataset reveals notable gender and age disparities in organ recipient patterns. The data shows that male recipients are generally older than female recipients across all ethnic groups, indicating a consistent gender-based age difference. Among female recipients, those identified as Native Hawaiian/Other Pacific Islanders and non-Hispanic have the highest average age, suggesting that older women from these backgrounds are more likely to become organ recipients compared to other demographic groups.</a:t>
            </a:r>
            <a:endParaRPr lang="en-US" sz="1600" dirty="0"/>
          </a:p>
          <a:p>
            <a:pPr lvl="1"/>
            <a:endParaRPr lang="en-US" sz="1000" dirty="0"/>
          </a:p>
        </p:txBody>
      </p:sp>
      <p:pic>
        <p:nvPicPr>
          <p:cNvPr id="3" name="Picture 2">
            <a:extLst>
              <a:ext uri="{FF2B5EF4-FFF2-40B4-BE49-F238E27FC236}">
                <a16:creationId xmlns:a16="http://schemas.microsoft.com/office/drawing/2014/main" id="{30ACC6FF-2FE4-C7E4-33DD-458259F346E6}"/>
              </a:ext>
            </a:extLst>
          </p:cNvPr>
          <p:cNvPicPr>
            <a:picLocks noChangeAspect="1"/>
          </p:cNvPicPr>
          <p:nvPr/>
        </p:nvPicPr>
        <p:blipFill>
          <a:blip r:embed="rId2"/>
          <a:stretch>
            <a:fillRect/>
          </a:stretch>
        </p:blipFill>
        <p:spPr>
          <a:xfrm>
            <a:off x="838200" y="3026302"/>
            <a:ext cx="5168153" cy="3650942"/>
          </a:xfrm>
          <a:prstGeom prst="rect">
            <a:avLst/>
          </a:prstGeom>
        </p:spPr>
      </p:pic>
      <p:pic>
        <p:nvPicPr>
          <p:cNvPr id="5" name="Picture 4">
            <a:extLst>
              <a:ext uri="{FF2B5EF4-FFF2-40B4-BE49-F238E27FC236}">
                <a16:creationId xmlns:a16="http://schemas.microsoft.com/office/drawing/2014/main" id="{1FCD33BA-5CB6-B035-A03F-1084DAFB2EC5}"/>
              </a:ext>
            </a:extLst>
          </p:cNvPr>
          <p:cNvPicPr>
            <a:picLocks noChangeAspect="1"/>
          </p:cNvPicPr>
          <p:nvPr/>
        </p:nvPicPr>
        <p:blipFill>
          <a:blip r:embed="rId3"/>
          <a:stretch>
            <a:fillRect/>
          </a:stretch>
        </p:blipFill>
        <p:spPr>
          <a:xfrm>
            <a:off x="6006353" y="3026302"/>
            <a:ext cx="5347447" cy="3650942"/>
          </a:xfrm>
          <a:prstGeom prst="rect">
            <a:avLst/>
          </a:prstGeom>
        </p:spPr>
      </p:pic>
    </p:spTree>
    <p:extLst>
      <p:ext uri="{BB962C8B-B14F-4D97-AF65-F5344CB8AC3E}">
        <p14:creationId xmlns:p14="http://schemas.microsoft.com/office/powerpoint/2010/main" val="207554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C53D505-677B-17ED-F01F-DFDC69102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8D6B3-DEE0-5088-F8BC-91FC59431012}"/>
              </a:ext>
            </a:extLst>
          </p:cNvPr>
          <p:cNvSpPr>
            <a:spLocks noGrp="1"/>
          </p:cNvSpPr>
          <p:nvPr>
            <p:ph type="title"/>
          </p:nvPr>
        </p:nvSpPr>
        <p:spPr/>
        <p:txBody>
          <a:bodyPr/>
          <a:lstStyle/>
          <a:p>
            <a:pPr algn="l"/>
            <a:r>
              <a:rPr lang="en-US" i="0" dirty="0">
                <a:effectLst/>
              </a:rPr>
              <a:t>Multivariate Plots: Ethnicity &amp; Age &amp; Gender</a:t>
            </a:r>
          </a:p>
        </p:txBody>
      </p:sp>
      <p:sp>
        <p:nvSpPr>
          <p:cNvPr id="19" name="Content Placeholder 18">
            <a:extLst>
              <a:ext uri="{FF2B5EF4-FFF2-40B4-BE49-F238E27FC236}">
                <a16:creationId xmlns:a16="http://schemas.microsoft.com/office/drawing/2014/main" id="{D500347A-904F-C58F-699F-71E512EB9B3E}"/>
              </a:ext>
            </a:extLst>
          </p:cNvPr>
          <p:cNvSpPr>
            <a:spLocks noGrp="1"/>
          </p:cNvSpPr>
          <p:nvPr>
            <p:ph idx="1"/>
          </p:nvPr>
        </p:nvSpPr>
        <p:spPr>
          <a:xfrm>
            <a:off x="838200" y="1238489"/>
            <a:ext cx="10515600" cy="1751749"/>
          </a:xfrm>
        </p:spPr>
        <p:txBody>
          <a:bodyPr>
            <a:normAutofit fontScale="92500"/>
          </a:bodyPr>
          <a:lstStyle/>
          <a:p>
            <a:r>
              <a:rPr lang="en-US" sz="1400" dirty="0"/>
              <a:t>CAN: Candidate</a:t>
            </a:r>
          </a:p>
          <a:p>
            <a:r>
              <a:rPr lang="en-US" sz="1400" dirty="0"/>
              <a:t>DON: Donor</a:t>
            </a:r>
          </a:p>
          <a:p>
            <a:pPr lvl="1"/>
            <a:r>
              <a:rPr lang="en-US" sz="1200" dirty="0"/>
              <a:t>An analysis of AcuteRejectionEpisode_CAN data reveals a gender disparity in heart transplant rejection rates, with males demonstrating a higher propensity for acute rejection episodes in their 60s compared to females in their late 50s. This trend suggests that gender may be a factor in post-transplant outcomes. </a:t>
            </a:r>
          </a:p>
          <a:p>
            <a:pPr lvl="1"/>
            <a:r>
              <a:rPr lang="en-US" sz="1050" b="0" i="0" u="none" strike="noStrike" dirty="0">
                <a:solidFill>
                  <a:srgbClr val="0E101A"/>
                </a:solidFill>
                <a:effectLst/>
              </a:rPr>
              <a:t>An analysis of the </a:t>
            </a:r>
            <a:r>
              <a:rPr lang="en-US" sz="1050" b="1" i="0" u="none" strike="noStrike" dirty="0">
                <a:solidFill>
                  <a:srgbClr val="0E101A"/>
                </a:solidFill>
                <a:effectLst/>
              </a:rPr>
              <a:t>TransplantSurvivalDay_CAN</a:t>
            </a:r>
            <a:r>
              <a:rPr lang="en-US" sz="1050" b="0" i="0" u="none" strike="noStrike" dirty="0">
                <a:solidFill>
                  <a:srgbClr val="0E101A"/>
                </a:solidFill>
                <a:effectLst/>
              </a:rPr>
              <a:t> data reveals a gender disparity in heart transplant survival, with females showing a higher mean survival duration across most ethnic groups. Exceptions to this trend include </a:t>
            </a:r>
            <a:r>
              <a:rPr lang="en-US" sz="1050" b="1" i="0" u="none" strike="noStrike" dirty="0">
                <a:solidFill>
                  <a:srgbClr val="0E101A"/>
                </a:solidFill>
                <a:effectLst/>
              </a:rPr>
              <a:t>Asian, non-Hispanic, Black, and non-Hispanic</a:t>
            </a:r>
            <a:r>
              <a:rPr lang="en-US" sz="1050" b="0" i="0" u="none" strike="noStrike" dirty="0">
                <a:solidFill>
                  <a:srgbClr val="0E101A"/>
                </a:solidFill>
                <a:effectLst/>
              </a:rPr>
              <a:t> populations, where males exhibit comparable or slightly better survival outcomes. Interestingly, a higher density of data points for </a:t>
            </a:r>
            <a:r>
              <a:rPr lang="en-US" sz="1050" b="1" i="0" u="none" strike="noStrike" dirty="0">
                <a:solidFill>
                  <a:srgbClr val="0E101A"/>
                </a:solidFill>
                <a:effectLst/>
              </a:rPr>
              <a:t>Asian, Non-Hispanic</a:t>
            </a:r>
            <a:r>
              <a:rPr lang="en-US" sz="1050" b="0" i="0" u="none" strike="noStrike" dirty="0">
                <a:solidFill>
                  <a:srgbClr val="0E101A"/>
                </a:solidFill>
                <a:effectLst/>
              </a:rPr>
              <a:t>, </a:t>
            </a:r>
            <a:r>
              <a:rPr lang="en-US" sz="1050" b="1" i="0" u="none" strike="noStrike" dirty="0">
                <a:solidFill>
                  <a:srgbClr val="0E101A"/>
                </a:solidFill>
                <a:effectLst/>
              </a:rPr>
              <a:t>Black, Non-Hispanic</a:t>
            </a:r>
            <a:r>
              <a:rPr lang="en-US" sz="1050" b="0" i="0" u="none" strike="noStrike" dirty="0">
                <a:solidFill>
                  <a:srgbClr val="0E101A"/>
                </a:solidFill>
                <a:effectLst/>
              </a:rPr>
              <a:t>, </a:t>
            </a:r>
            <a:r>
              <a:rPr lang="en-US" sz="1050" b="1" i="0" u="none" strike="noStrike" dirty="0">
                <a:solidFill>
                  <a:srgbClr val="0E101A"/>
                </a:solidFill>
                <a:effectLst/>
              </a:rPr>
              <a:t>Hispanic/Latino</a:t>
            </a:r>
            <a:r>
              <a:rPr lang="en-US" sz="1050" b="0" i="0" u="none" strike="noStrike" dirty="0">
                <a:solidFill>
                  <a:srgbClr val="0E101A"/>
                </a:solidFill>
                <a:effectLst/>
              </a:rPr>
              <a:t>, and </a:t>
            </a:r>
            <a:r>
              <a:rPr lang="en-US" sz="1050" b="1" i="0" u="none" strike="noStrike" dirty="0">
                <a:solidFill>
                  <a:srgbClr val="0E101A"/>
                </a:solidFill>
                <a:effectLst/>
              </a:rPr>
              <a:t>White, Non-Hispanic</a:t>
            </a:r>
            <a:r>
              <a:rPr lang="en-US" sz="1050" b="0" i="0" u="none" strike="noStrike" dirty="0">
                <a:solidFill>
                  <a:srgbClr val="0E101A"/>
                </a:solidFill>
                <a:effectLst/>
              </a:rPr>
              <a:t> groups is observed below the 500-day mark, indicating shorter survival times for a significant portion of these populations. This pattern highlights potential disparities that warrant further investigation into the interplay of gender, ethnicity, and other contributing factors in transplant outcomes.</a:t>
            </a:r>
          </a:p>
          <a:p>
            <a:pPr lvl="1"/>
            <a:endParaRPr lang="en-US" sz="1200" dirty="0"/>
          </a:p>
          <a:p>
            <a:pPr lvl="1"/>
            <a:endParaRPr lang="en-US" sz="1200" dirty="0"/>
          </a:p>
          <a:p>
            <a:pPr lvl="1"/>
            <a:endParaRPr lang="en-US" sz="1200" dirty="0"/>
          </a:p>
        </p:txBody>
      </p:sp>
      <p:pic>
        <p:nvPicPr>
          <p:cNvPr id="4" name="Picture 3">
            <a:extLst>
              <a:ext uri="{FF2B5EF4-FFF2-40B4-BE49-F238E27FC236}">
                <a16:creationId xmlns:a16="http://schemas.microsoft.com/office/drawing/2014/main" id="{4D756586-ABCF-57C5-79CA-EFF14A177C16}"/>
              </a:ext>
            </a:extLst>
          </p:cNvPr>
          <p:cNvPicPr>
            <a:picLocks noChangeAspect="1"/>
          </p:cNvPicPr>
          <p:nvPr/>
        </p:nvPicPr>
        <p:blipFill>
          <a:blip r:embed="rId3"/>
          <a:stretch>
            <a:fillRect/>
          </a:stretch>
        </p:blipFill>
        <p:spPr>
          <a:xfrm>
            <a:off x="838200" y="2990236"/>
            <a:ext cx="4988860" cy="3590378"/>
          </a:xfrm>
          <a:prstGeom prst="rect">
            <a:avLst/>
          </a:prstGeom>
        </p:spPr>
      </p:pic>
      <p:pic>
        <p:nvPicPr>
          <p:cNvPr id="6" name="Picture 5">
            <a:extLst>
              <a:ext uri="{FF2B5EF4-FFF2-40B4-BE49-F238E27FC236}">
                <a16:creationId xmlns:a16="http://schemas.microsoft.com/office/drawing/2014/main" id="{28EECF71-AD22-6347-D533-C0ECAFD9CEB8}"/>
              </a:ext>
            </a:extLst>
          </p:cNvPr>
          <p:cNvPicPr>
            <a:picLocks noChangeAspect="1"/>
          </p:cNvPicPr>
          <p:nvPr/>
        </p:nvPicPr>
        <p:blipFill>
          <a:blip r:embed="rId4"/>
          <a:stretch>
            <a:fillRect/>
          </a:stretch>
        </p:blipFill>
        <p:spPr>
          <a:xfrm>
            <a:off x="5827060" y="2990237"/>
            <a:ext cx="5526740" cy="3590377"/>
          </a:xfrm>
          <a:prstGeom prst="rect">
            <a:avLst/>
          </a:prstGeom>
        </p:spPr>
      </p:pic>
    </p:spTree>
    <p:extLst>
      <p:ext uri="{BB962C8B-B14F-4D97-AF65-F5344CB8AC3E}">
        <p14:creationId xmlns:p14="http://schemas.microsoft.com/office/powerpoint/2010/main" val="1610423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4796B0A-918C-4210-27CC-CF7DACA9F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CDF92-D797-95BD-7B07-48E042BB08E6}"/>
              </a:ext>
            </a:extLst>
          </p:cNvPr>
          <p:cNvSpPr>
            <a:spLocks noGrp="1"/>
          </p:cNvSpPr>
          <p:nvPr>
            <p:ph type="title"/>
          </p:nvPr>
        </p:nvSpPr>
        <p:spPr/>
        <p:txBody>
          <a:bodyPr/>
          <a:lstStyle/>
          <a:p>
            <a:pPr algn="l"/>
            <a:r>
              <a:rPr lang="en-US" i="0" dirty="0">
                <a:effectLst/>
              </a:rPr>
              <a:t>Correlation Heatmap</a:t>
            </a:r>
          </a:p>
        </p:txBody>
      </p:sp>
      <p:sp>
        <p:nvSpPr>
          <p:cNvPr id="19" name="Content Placeholder 18">
            <a:extLst>
              <a:ext uri="{FF2B5EF4-FFF2-40B4-BE49-F238E27FC236}">
                <a16:creationId xmlns:a16="http://schemas.microsoft.com/office/drawing/2014/main" id="{D2C19569-5827-355B-2125-069A92646F0F}"/>
              </a:ext>
            </a:extLst>
          </p:cNvPr>
          <p:cNvSpPr>
            <a:spLocks noGrp="1"/>
          </p:cNvSpPr>
          <p:nvPr>
            <p:ph idx="1"/>
          </p:nvPr>
        </p:nvSpPr>
        <p:spPr>
          <a:xfrm>
            <a:off x="838200" y="1238489"/>
            <a:ext cx="10515600" cy="1751749"/>
          </a:xfrm>
        </p:spPr>
        <p:txBody>
          <a:bodyPr>
            <a:normAutofit/>
          </a:bodyPr>
          <a:lstStyle/>
          <a:p>
            <a:r>
              <a:rPr lang="en-US" sz="1400" dirty="0"/>
              <a:t>CAN: Candidate</a:t>
            </a:r>
          </a:p>
          <a:p>
            <a:r>
              <a:rPr lang="en-US" sz="1400" dirty="0"/>
              <a:t>DON: Donor</a:t>
            </a:r>
          </a:p>
          <a:p>
            <a:pPr lvl="1"/>
            <a:endParaRPr lang="en-US" sz="1000" dirty="0"/>
          </a:p>
        </p:txBody>
      </p:sp>
      <p:pic>
        <p:nvPicPr>
          <p:cNvPr id="3" name="Picture 2">
            <a:extLst>
              <a:ext uri="{FF2B5EF4-FFF2-40B4-BE49-F238E27FC236}">
                <a16:creationId xmlns:a16="http://schemas.microsoft.com/office/drawing/2014/main" id="{E8826EAA-E372-2DA5-57E1-507A7D854089}"/>
              </a:ext>
            </a:extLst>
          </p:cNvPr>
          <p:cNvPicPr>
            <a:picLocks noChangeAspect="1"/>
          </p:cNvPicPr>
          <p:nvPr/>
        </p:nvPicPr>
        <p:blipFill>
          <a:blip r:embed="rId2"/>
          <a:stretch>
            <a:fillRect/>
          </a:stretch>
        </p:blipFill>
        <p:spPr>
          <a:xfrm>
            <a:off x="838199" y="1855693"/>
            <a:ext cx="6539754" cy="4840941"/>
          </a:xfrm>
          <a:prstGeom prst="rect">
            <a:avLst/>
          </a:prstGeom>
        </p:spPr>
      </p:pic>
      <p:sp>
        <p:nvSpPr>
          <p:cNvPr id="5" name="TextBox 4">
            <a:extLst>
              <a:ext uri="{FF2B5EF4-FFF2-40B4-BE49-F238E27FC236}">
                <a16:creationId xmlns:a16="http://schemas.microsoft.com/office/drawing/2014/main" id="{2D357CBD-7983-56DB-7FE3-C24F8DA1AE5F}"/>
              </a:ext>
            </a:extLst>
          </p:cNvPr>
          <p:cNvSpPr txBox="1"/>
          <p:nvPr/>
        </p:nvSpPr>
        <p:spPr>
          <a:xfrm>
            <a:off x="7377953" y="2167893"/>
            <a:ext cx="4814047" cy="4216539"/>
          </a:xfrm>
          <a:prstGeom prst="rect">
            <a:avLst/>
          </a:prstGeom>
          <a:noFill/>
        </p:spPr>
        <p:txBody>
          <a:bodyPr wrap="square" rtlCol="0">
            <a:spAutoFit/>
          </a:bodyPr>
          <a:lstStyle/>
          <a:p>
            <a:pPr algn="l"/>
            <a:r>
              <a:rPr lang="en-US" sz="1200" b="1" i="0" u="none" strike="noStrike" dirty="0">
                <a:solidFill>
                  <a:srgbClr val="0E101A"/>
                </a:solidFill>
                <a:effectLst/>
              </a:rPr>
              <a:t>HeightCm_CAN and HeightCm_DON</a:t>
            </a:r>
            <a:r>
              <a:rPr lang="en-US" sz="1200" b="0" i="0" u="none" strike="noStrike" dirty="0">
                <a:solidFill>
                  <a:srgbClr val="0E101A"/>
                </a:solidFill>
                <a:effectLst/>
              </a:rPr>
              <a:t>: A positive correlation (0.524) indicates that the heights recorded in CAN and DON datasets are related.</a:t>
            </a:r>
          </a:p>
          <a:p>
            <a:pPr algn="l"/>
            <a:endParaRPr lang="en-US" sz="1200" b="1" i="0" u="none" strike="noStrike" dirty="0">
              <a:solidFill>
                <a:srgbClr val="0E101A"/>
              </a:solidFill>
              <a:effectLst/>
            </a:endParaRPr>
          </a:p>
          <a:p>
            <a:pPr algn="l"/>
            <a:r>
              <a:rPr lang="en-US" sz="1200" b="1" i="0" u="none" strike="noStrike" dirty="0">
                <a:solidFill>
                  <a:srgbClr val="0E101A"/>
                </a:solidFill>
                <a:effectLst/>
              </a:rPr>
              <a:t>DistanceFrom_HospitaltoTXCenter and IschemicTimeHours_DON</a:t>
            </a:r>
            <a:r>
              <a:rPr lang="en-US" sz="1200" b="0" i="0" u="none" strike="noStrike" dirty="0">
                <a:solidFill>
                  <a:srgbClr val="0E101A"/>
                </a:solidFill>
                <a:effectLst/>
              </a:rPr>
              <a:t>: A positive correlation (0.617) suggests that longer distances from the hospital to the transplant center are associated with longer ischemic times.</a:t>
            </a:r>
          </a:p>
          <a:p>
            <a:pPr algn="l">
              <a:spcBef>
                <a:spcPts val="750"/>
              </a:spcBef>
              <a:spcAft>
                <a:spcPts val="750"/>
              </a:spcAft>
            </a:pPr>
            <a:r>
              <a:rPr lang="en-US" sz="1200" b="1" i="0" dirty="0">
                <a:solidFill>
                  <a:srgbClr val="242424"/>
                </a:solidFill>
                <a:effectLst/>
                <a:latin typeface="Segoe UI" panose="020B0502040204020203" pitchFamily="34" charset="0"/>
              </a:rPr>
              <a:t>HeightCm_CAN and WeightKg_CAN</a:t>
            </a:r>
            <a:r>
              <a:rPr lang="en-US" sz="1200" b="0" i="0" dirty="0">
                <a:solidFill>
                  <a:srgbClr val="242424"/>
                </a:solidFill>
                <a:effectLst/>
                <a:latin typeface="Segoe UI" panose="020B0502040204020203" pitchFamily="34" charset="0"/>
              </a:rPr>
              <a:t>: There is a moderate positive correlation (0.599), indicating that taller individuals tend to weigh more.</a:t>
            </a:r>
          </a:p>
          <a:p>
            <a:pPr algn="l">
              <a:spcBef>
                <a:spcPts val="750"/>
              </a:spcBef>
              <a:spcAft>
                <a:spcPts val="750"/>
              </a:spcAft>
            </a:pPr>
            <a:r>
              <a:rPr lang="en-US" sz="1200" b="1" i="0" dirty="0">
                <a:solidFill>
                  <a:srgbClr val="242424"/>
                </a:solidFill>
                <a:effectLst/>
                <a:latin typeface="Segoe UI" panose="020B0502040204020203" pitchFamily="34" charset="0"/>
              </a:rPr>
              <a:t>HeightCm_DON and WeightKg_CAN</a:t>
            </a:r>
            <a:r>
              <a:rPr lang="en-US" sz="1200" b="0" i="0" dirty="0">
                <a:solidFill>
                  <a:srgbClr val="242424"/>
                </a:solidFill>
                <a:effectLst/>
                <a:latin typeface="Segoe UI" panose="020B0502040204020203" pitchFamily="34" charset="0"/>
              </a:rPr>
              <a:t>: There is a positive correlation (0.446), showing a similar trend in the DON dataset.</a:t>
            </a:r>
          </a:p>
          <a:p>
            <a:pPr algn="l">
              <a:spcBef>
                <a:spcPts val="750"/>
              </a:spcBef>
              <a:spcAft>
                <a:spcPts val="750"/>
              </a:spcAft>
            </a:pPr>
            <a:r>
              <a:rPr lang="en-US" sz="1200" b="1" i="0" dirty="0">
                <a:solidFill>
                  <a:srgbClr val="242424"/>
                </a:solidFill>
                <a:effectLst/>
                <a:latin typeface="Segoe UI" panose="020B0502040204020203" pitchFamily="34" charset="0"/>
              </a:rPr>
              <a:t>WeightKg_CAN and WeightKg_DON</a:t>
            </a:r>
            <a:r>
              <a:rPr lang="en-US" sz="1200" b="0" i="0" dirty="0">
                <a:solidFill>
                  <a:srgbClr val="242424"/>
                </a:solidFill>
                <a:effectLst/>
                <a:latin typeface="Segoe UI" panose="020B0502040204020203" pitchFamily="34" charset="0"/>
              </a:rPr>
              <a:t>: There is a positive correlation (0.456), suggesting consistency in weight measurements between the two datasets.</a:t>
            </a:r>
          </a:p>
          <a:p>
            <a:r>
              <a:rPr lang="en-US" sz="1200" b="0" i="0" dirty="0">
                <a:solidFill>
                  <a:srgbClr val="242424"/>
                </a:solidFill>
                <a:effectLst/>
                <a:latin typeface="Segoe UI" panose="020B0502040204020203" pitchFamily="34" charset="0"/>
              </a:rPr>
              <a:t>The Heatmap highlights moderately strong correlations between height and weight, distance, and ischemic time. Most other variables show weak or negligible correlations. </a:t>
            </a:r>
            <a:endParaRPr lang="en-US" sz="1200" dirty="0"/>
          </a:p>
        </p:txBody>
      </p:sp>
    </p:spTree>
    <p:extLst>
      <p:ext uri="{BB962C8B-B14F-4D97-AF65-F5344CB8AC3E}">
        <p14:creationId xmlns:p14="http://schemas.microsoft.com/office/powerpoint/2010/main" val="1695814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1446FBB-8DA2-D964-2499-3A0F80571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7FD7A-D0B0-A2D6-1FFF-9510585926CA}"/>
              </a:ext>
            </a:extLst>
          </p:cNvPr>
          <p:cNvSpPr>
            <a:spLocks noGrp="1"/>
          </p:cNvSpPr>
          <p:nvPr>
            <p:ph type="title"/>
          </p:nvPr>
        </p:nvSpPr>
        <p:spPr/>
        <p:txBody>
          <a:bodyPr/>
          <a:lstStyle/>
          <a:p>
            <a:r>
              <a:rPr lang="en-US" b="0" i="0" dirty="0">
                <a:solidFill>
                  <a:srgbClr val="001D35"/>
                </a:solidFill>
                <a:effectLst/>
                <a:latin typeface="Google Sans"/>
              </a:rPr>
              <a:t>Data Wrangling </a:t>
            </a:r>
            <a:endParaRPr lang="en-US" dirty="0"/>
          </a:p>
        </p:txBody>
      </p:sp>
      <p:sp>
        <p:nvSpPr>
          <p:cNvPr id="3" name="Content Placeholder 2">
            <a:extLst>
              <a:ext uri="{FF2B5EF4-FFF2-40B4-BE49-F238E27FC236}">
                <a16:creationId xmlns:a16="http://schemas.microsoft.com/office/drawing/2014/main" id="{ABA817BD-02C8-3917-87FF-471761FECE11}"/>
              </a:ext>
            </a:extLst>
          </p:cNvPr>
          <p:cNvSpPr>
            <a:spLocks noGrp="1"/>
          </p:cNvSpPr>
          <p:nvPr>
            <p:ph idx="1"/>
          </p:nvPr>
        </p:nvSpPr>
        <p:spPr>
          <a:xfrm>
            <a:off x="838199" y="1825624"/>
            <a:ext cx="10665941" cy="5032376"/>
          </a:xfrm>
        </p:spPr>
        <p:txBody>
          <a:bodyPr>
            <a:normAutofit lnSpcReduction="10000"/>
          </a:bodyPr>
          <a:lstStyle/>
          <a:p>
            <a:r>
              <a:rPr lang="en-US" dirty="0"/>
              <a:t>Remove &amp; C</a:t>
            </a:r>
            <a:r>
              <a:rPr lang="en-US" b="0" i="0" dirty="0">
                <a:solidFill>
                  <a:srgbClr val="001D35"/>
                </a:solidFill>
                <a:effectLst/>
                <a:latin typeface="Google Sans"/>
              </a:rPr>
              <a:t>onsolidate</a:t>
            </a:r>
            <a:r>
              <a:rPr lang="en-US" dirty="0"/>
              <a:t> &amp; Engineer Additional Features</a:t>
            </a:r>
          </a:p>
          <a:p>
            <a:pPr lvl="1"/>
            <a:r>
              <a:rPr lang="en-US" dirty="0"/>
              <a:t>Age/Creatinine/ for Donor &amp; Candidate</a:t>
            </a:r>
          </a:p>
          <a:p>
            <a:pPr lvl="2"/>
            <a:r>
              <a:rPr lang="en-US" dirty="0"/>
              <a:t>Difference/Addition/Ratio/Mean</a:t>
            </a:r>
          </a:p>
          <a:p>
            <a:pPr lvl="1"/>
            <a:r>
              <a:rPr lang="en-US" dirty="0"/>
              <a:t>Consolidate Categories</a:t>
            </a:r>
          </a:p>
          <a:p>
            <a:pPr lvl="2"/>
            <a:r>
              <a:rPr lang="en-US" dirty="0"/>
              <a:t>Cancer for Donor/Life Support for Candidate</a:t>
            </a:r>
          </a:p>
          <a:p>
            <a:pPr lvl="3"/>
            <a:r>
              <a:rPr lang="en-US" dirty="0"/>
              <a:t>Engineer new binary feature</a:t>
            </a:r>
          </a:p>
          <a:p>
            <a:pPr lvl="4"/>
            <a:r>
              <a:rPr lang="en-US" dirty="0"/>
              <a:t>Remove Cancer Site/</a:t>
            </a:r>
            <a:r>
              <a:rPr lang="en-US" i="0" dirty="0">
                <a:effectLst/>
                <a:latin typeface="system-ui"/>
              </a:rPr>
              <a:t>Extracanial/Intracranial/History/Skin</a:t>
            </a:r>
          </a:p>
          <a:p>
            <a:pPr lvl="4"/>
            <a:r>
              <a:rPr lang="en-US" dirty="0">
                <a:latin typeface="system-ui"/>
              </a:rPr>
              <a:t>Candidate with any life support into a new single binary feature.</a:t>
            </a:r>
          </a:p>
          <a:p>
            <a:pPr lvl="2"/>
            <a:r>
              <a:rPr lang="en-US" b="0" i="0" dirty="0">
                <a:solidFill>
                  <a:srgbClr val="001D35"/>
                </a:solidFill>
                <a:effectLst/>
                <a:latin typeface="Google Sans"/>
              </a:rPr>
              <a:t>Hemodynamics &amp; Inotropic and Vasodilator &amp; etc.</a:t>
            </a:r>
          </a:p>
          <a:p>
            <a:pPr lvl="3"/>
            <a:r>
              <a:rPr lang="en-US" b="0" i="0" dirty="0">
                <a:solidFill>
                  <a:srgbClr val="001D35"/>
                </a:solidFill>
                <a:effectLst/>
                <a:latin typeface="Google Sans"/>
              </a:rPr>
              <a:t>Chi2/Cramer's V score statistics test for categorical features to determine the association between categories before consolidating features</a:t>
            </a:r>
          </a:p>
          <a:p>
            <a:pPr lvl="3"/>
            <a:r>
              <a:rPr lang="en-US" dirty="0"/>
              <a:t>Consolidate features that contain prior Heart transplantation &amp; remove any measurements taken after the surgery</a:t>
            </a:r>
          </a:p>
          <a:p>
            <a:pPr lvl="2"/>
            <a:r>
              <a:rPr lang="en-US" dirty="0"/>
              <a:t>Numeric Categories (Nominal/Ordinal)</a:t>
            </a:r>
          </a:p>
          <a:p>
            <a:pPr lvl="3"/>
            <a:r>
              <a:rPr lang="en-US" dirty="0"/>
              <a:t>Transform features into description using Data Dictionary excel from optn-star-files-data-dictionary.xlsx</a:t>
            </a:r>
          </a:p>
          <a:p>
            <a:pPr lvl="3"/>
            <a:endParaRPr lang="en-US" dirty="0"/>
          </a:p>
        </p:txBody>
      </p:sp>
    </p:spTree>
    <p:extLst>
      <p:ext uri="{BB962C8B-B14F-4D97-AF65-F5344CB8AC3E}">
        <p14:creationId xmlns:p14="http://schemas.microsoft.com/office/powerpoint/2010/main" val="3807387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B09C752-93BC-F419-5948-7264ADA78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22952-89F8-0913-362C-C0AC7192932E}"/>
              </a:ext>
            </a:extLst>
          </p:cNvPr>
          <p:cNvSpPr>
            <a:spLocks noGrp="1"/>
          </p:cNvSpPr>
          <p:nvPr>
            <p:ph type="title"/>
          </p:nvPr>
        </p:nvSpPr>
        <p:spPr/>
        <p:txBody>
          <a:bodyPr/>
          <a:lstStyle/>
          <a:p>
            <a:r>
              <a:rPr lang="en-US" dirty="0"/>
              <a:t>Additional Data Cleaning Cont…</a:t>
            </a:r>
          </a:p>
        </p:txBody>
      </p:sp>
      <p:sp>
        <p:nvSpPr>
          <p:cNvPr id="3" name="Content Placeholder 2">
            <a:extLst>
              <a:ext uri="{FF2B5EF4-FFF2-40B4-BE49-F238E27FC236}">
                <a16:creationId xmlns:a16="http://schemas.microsoft.com/office/drawing/2014/main" id="{E729A7DE-E367-BE1F-3E68-83500AB5F665}"/>
              </a:ext>
            </a:extLst>
          </p:cNvPr>
          <p:cNvSpPr>
            <a:spLocks noGrp="1"/>
          </p:cNvSpPr>
          <p:nvPr>
            <p:ph idx="1"/>
          </p:nvPr>
        </p:nvSpPr>
        <p:spPr>
          <a:xfrm>
            <a:off x="838199" y="1825624"/>
            <a:ext cx="10665941" cy="4667251"/>
          </a:xfrm>
        </p:spPr>
        <p:txBody>
          <a:bodyPr>
            <a:normAutofit fontScale="62500" lnSpcReduction="20000"/>
          </a:bodyPr>
          <a:lstStyle/>
          <a:p>
            <a:r>
              <a:rPr lang="en-US" dirty="0"/>
              <a:t>Additional </a:t>
            </a:r>
            <a:r>
              <a:rPr lang="en-US" b="0" i="0" dirty="0">
                <a:solidFill>
                  <a:srgbClr val="001D35"/>
                </a:solidFill>
                <a:effectLst/>
                <a:latin typeface="Google Sans"/>
              </a:rPr>
              <a:t>Data wrangling</a:t>
            </a:r>
            <a:endParaRPr lang="en-US" dirty="0"/>
          </a:p>
          <a:p>
            <a:pPr lvl="1"/>
            <a:r>
              <a:rPr lang="en-US" dirty="0"/>
              <a:t>Remove Unwanted Features</a:t>
            </a:r>
          </a:p>
          <a:p>
            <a:pPr lvl="2"/>
            <a:r>
              <a:rPr lang="en-US" dirty="0"/>
              <a:t>PrimaryPaymentSource/WorkIncome/TransplantState/ResidencyState/etc.</a:t>
            </a:r>
          </a:p>
          <a:p>
            <a:pPr lvl="2"/>
            <a:r>
              <a:rPr lang="en-US" dirty="0"/>
              <a:t>OtherMedsText1/OtherMedsText2/OtherMedsText3/VentricularDeviceType/etc.</a:t>
            </a:r>
          </a:p>
          <a:p>
            <a:pPr lvl="2"/>
            <a:r>
              <a:rPr lang="en-US" dirty="0"/>
              <a:t>BMI/PreviousTransplantAnyOrgan &amp; PreviousTransplantSameOrgan</a:t>
            </a:r>
          </a:p>
          <a:p>
            <a:pPr lvl="1"/>
            <a:r>
              <a:rPr lang="en-US" b="0" i="0" dirty="0">
                <a:solidFill>
                  <a:srgbClr val="001D35"/>
                </a:solidFill>
                <a:effectLst/>
                <a:latin typeface="Google Sans"/>
              </a:rPr>
              <a:t>Categorizing features</a:t>
            </a:r>
          </a:p>
          <a:p>
            <a:pPr lvl="2"/>
            <a:r>
              <a:rPr lang="en-US" i="0" dirty="0">
                <a:effectLst/>
                <a:latin typeface="system-ui"/>
              </a:rPr>
              <a:t>PanelReactiveAntibody</a:t>
            </a:r>
          </a:p>
          <a:p>
            <a:pPr lvl="3"/>
            <a:r>
              <a:rPr lang="en-US" b="0" i="0" dirty="0">
                <a:effectLst/>
                <a:latin typeface="system-ui"/>
              </a:rPr>
              <a:t>CPRA values typically range from 0% to 100%</a:t>
            </a:r>
            <a:endParaRPr lang="en-US" dirty="0"/>
          </a:p>
          <a:p>
            <a:pPr lvl="1"/>
            <a:r>
              <a:rPr lang="en-US" dirty="0"/>
              <a:t>Remove After &amp; Labels</a:t>
            </a:r>
          </a:p>
          <a:p>
            <a:pPr lvl="2"/>
            <a:r>
              <a:rPr lang="en-US" b="0" i="0" dirty="0">
                <a:effectLst/>
                <a:latin typeface="system-ui"/>
              </a:rPr>
              <a:t>FollowUpFunctionalStatus/AcuteRejectionEpisode/StrokePostTransplant/etc.</a:t>
            </a:r>
          </a:p>
          <a:p>
            <a:pPr lvl="1"/>
            <a:r>
              <a:rPr lang="en-US" dirty="0"/>
              <a:t>Consolidate Categories</a:t>
            </a:r>
          </a:p>
          <a:p>
            <a:pPr lvl="2"/>
            <a:r>
              <a:rPr lang="en-US" dirty="0"/>
              <a:t>Diagnosis Codes/Prior Cardiac Surgery Type</a:t>
            </a:r>
          </a:p>
          <a:p>
            <a:pPr lvl="3"/>
            <a:r>
              <a:rPr lang="en-US" dirty="0"/>
              <a:t>Consolidate different types Codes</a:t>
            </a:r>
          </a:p>
          <a:p>
            <a:pPr lvl="4"/>
            <a:r>
              <a:rPr lang="en-US" dirty="0"/>
              <a:t>Reduce the number of categories</a:t>
            </a:r>
          </a:p>
          <a:p>
            <a:pPr lvl="1"/>
            <a:r>
              <a:rPr lang="en-US" dirty="0"/>
              <a:t>Remove Unknown Features &amp; NaNs</a:t>
            </a:r>
          </a:p>
          <a:p>
            <a:pPr lvl="2"/>
            <a:r>
              <a:rPr lang="en-US" dirty="0"/>
              <a:t>DAYS_STAT1A/DAYS_STATA4/DAYS_STATA3/etc.</a:t>
            </a:r>
          </a:p>
          <a:p>
            <a:pPr marL="457200" lvl="1" indent="0">
              <a:buNone/>
            </a:pPr>
            <a:endParaRPr lang="en-US" dirty="0"/>
          </a:p>
          <a:p>
            <a:r>
              <a:rPr lang="en-US" dirty="0"/>
              <a:t>Total of 14,856 records and 113 features</a:t>
            </a:r>
          </a:p>
          <a:p>
            <a:pPr marL="0" indent="0">
              <a:buNone/>
            </a:pPr>
            <a:endParaRPr lang="en-US" dirty="0"/>
          </a:p>
          <a:p>
            <a:pPr lvl="1"/>
            <a:r>
              <a:rPr lang="en-US" b="1" dirty="0"/>
              <a:t>Note</a:t>
            </a:r>
            <a:r>
              <a:rPr lang="en-US" dirty="0"/>
              <a:t>: Hypothesis testing using Chi-square statistic and calculating Cramer's V to build consensus for the categorical variables while consolidating categorical variables</a:t>
            </a:r>
          </a:p>
          <a:p>
            <a:endParaRPr lang="en-US" dirty="0"/>
          </a:p>
        </p:txBody>
      </p:sp>
    </p:spTree>
    <p:extLst>
      <p:ext uri="{BB962C8B-B14F-4D97-AF65-F5344CB8AC3E}">
        <p14:creationId xmlns:p14="http://schemas.microsoft.com/office/powerpoint/2010/main" val="2496123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F35934D-BA29-1D96-A6E0-6C88C294F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7FFA8-91AF-D2BB-5644-D0B0D529DDFC}"/>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FCB39C35-8F5D-B34F-20EE-ED36C0BF03BF}"/>
              </a:ext>
            </a:extLst>
          </p:cNvPr>
          <p:cNvSpPr>
            <a:spLocks noGrp="1"/>
          </p:cNvSpPr>
          <p:nvPr>
            <p:ph idx="1"/>
          </p:nvPr>
        </p:nvSpPr>
        <p:spPr>
          <a:xfrm>
            <a:off x="838199" y="1426029"/>
            <a:ext cx="10665941" cy="2312254"/>
          </a:xfrm>
        </p:spPr>
        <p:txBody>
          <a:bodyPr>
            <a:normAutofit fontScale="92500" lnSpcReduction="10000"/>
          </a:bodyPr>
          <a:lstStyle/>
          <a:p>
            <a:r>
              <a:rPr lang="en-US" b="0" i="0" dirty="0">
                <a:solidFill>
                  <a:srgbClr val="001D35"/>
                </a:solidFill>
                <a:effectLst/>
                <a:latin typeface="Google Sans"/>
              </a:rPr>
              <a:t>Random Forest/Balanced Random Forest/Logistic Regression/XGBoost</a:t>
            </a:r>
          </a:p>
          <a:p>
            <a:pPr lvl="1"/>
            <a:r>
              <a:rPr lang="en-US" b="0" i="0" dirty="0">
                <a:solidFill>
                  <a:srgbClr val="001D35"/>
                </a:solidFill>
                <a:effectLst/>
                <a:latin typeface="Google Sans"/>
              </a:rPr>
              <a:t>Techniques employed</a:t>
            </a:r>
          </a:p>
          <a:p>
            <a:pPr lvl="2"/>
            <a:r>
              <a:rPr lang="en-US" i="0" dirty="0">
                <a:solidFill>
                  <a:srgbClr val="242424"/>
                </a:solidFill>
                <a:effectLst/>
                <a:latin typeface="Segoe UI" panose="020B0502040204020203" pitchFamily="34" charset="0"/>
              </a:rPr>
              <a:t>Grid Search</a:t>
            </a:r>
          </a:p>
          <a:p>
            <a:pPr lvl="2"/>
            <a:r>
              <a:rPr lang="en-US" i="0" dirty="0">
                <a:solidFill>
                  <a:srgbClr val="242424"/>
                </a:solidFill>
                <a:effectLst/>
                <a:latin typeface="Segoe UI" panose="020B0502040204020203" pitchFamily="34" charset="0"/>
              </a:rPr>
              <a:t>Cross-Validation (CV)</a:t>
            </a:r>
          </a:p>
          <a:p>
            <a:pPr lvl="2"/>
            <a:r>
              <a:rPr lang="en-US" i="0" dirty="0">
                <a:solidFill>
                  <a:srgbClr val="242424"/>
                </a:solidFill>
                <a:effectLst/>
                <a:latin typeface="Segoe UI" panose="020B0502040204020203" pitchFamily="34" charset="0"/>
              </a:rPr>
              <a:t>Bayesian Optimization</a:t>
            </a:r>
          </a:p>
          <a:p>
            <a:pPr lvl="1"/>
            <a:r>
              <a:rPr lang="en-US" sz="2200" i="0" dirty="0">
                <a:solidFill>
                  <a:srgbClr val="242424"/>
                </a:solidFill>
                <a:effectLst/>
                <a:latin typeface="Segoe UI" panose="020B0502040204020203" pitchFamily="34" charset="0"/>
              </a:rPr>
              <a:t>Label: GraftFailed_CAN</a:t>
            </a:r>
          </a:p>
          <a:p>
            <a:pPr lvl="2"/>
            <a:r>
              <a:rPr lang="en-US" dirty="0">
                <a:solidFill>
                  <a:srgbClr val="242424"/>
                </a:solidFill>
                <a:latin typeface="Segoe UI" panose="020B0502040204020203" pitchFamily="34" charset="0"/>
              </a:rPr>
              <a:t>Binary Feature</a:t>
            </a:r>
            <a:endParaRPr lang="en-US" i="0" dirty="0">
              <a:solidFill>
                <a:srgbClr val="242424"/>
              </a:solidFill>
              <a:effectLst/>
              <a:latin typeface="Segoe UI" panose="020B0502040204020203" pitchFamily="34" charset="0"/>
            </a:endParaRPr>
          </a:p>
          <a:p>
            <a:endParaRPr lang="en-US" dirty="0">
              <a:solidFill>
                <a:srgbClr val="242424"/>
              </a:solidFill>
              <a:latin typeface="Segoe UI" panose="020B0502040204020203" pitchFamily="34" charset="0"/>
            </a:endParaRPr>
          </a:p>
          <a:p>
            <a:pPr lvl="1"/>
            <a:endParaRPr lang="en-US" i="0" dirty="0">
              <a:solidFill>
                <a:srgbClr val="242424"/>
              </a:solidFill>
              <a:effectLst/>
              <a:latin typeface="Segoe UI" panose="020B0502040204020203" pitchFamily="34" charset="0"/>
            </a:endParaRPr>
          </a:p>
        </p:txBody>
      </p:sp>
      <p:pic>
        <p:nvPicPr>
          <p:cNvPr id="5" name="Picture 4">
            <a:extLst>
              <a:ext uri="{FF2B5EF4-FFF2-40B4-BE49-F238E27FC236}">
                <a16:creationId xmlns:a16="http://schemas.microsoft.com/office/drawing/2014/main" id="{FBAF69FC-ACC7-6889-CAB6-D9837D58AAD0}"/>
              </a:ext>
            </a:extLst>
          </p:cNvPr>
          <p:cNvPicPr>
            <a:picLocks noChangeAspect="1"/>
          </p:cNvPicPr>
          <p:nvPr/>
        </p:nvPicPr>
        <p:blipFill>
          <a:blip r:embed="rId2"/>
          <a:stretch>
            <a:fillRect/>
          </a:stretch>
        </p:blipFill>
        <p:spPr>
          <a:xfrm>
            <a:off x="838199" y="3738283"/>
            <a:ext cx="10448366" cy="2886635"/>
          </a:xfrm>
          <a:prstGeom prst="rect">
            <a:avLst/>
          </a:prstGeom>
        </p:spPr>
      </p:pic>
    </p:spTree>
    <p:extLst>
      <p:ext uri="{BB962C8B-B14F-4D97-AF65-F5344CB8AC3E}">
        <p14:creationId xmlns:p14="http://schemas.microsoft.com/office/powerpoint/2010/main" val="1314093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E4C518F-EB7E-B752-C46D-FFC4BDBED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090391-963F-6AA5-439B-CB0855DE90E9}"/>
              </a:ext>
            </a:extLst>
          </p:cNvPr>
          <p:cNvSpPr>
            <a:spLocks noGrp="1"/>
          </p:cNvSpPr>
          <p:nvPr>
            <p:ph type="title"/>
          </p:nvPr>
        </p:nvSpPr>
        <p:spPr>
          <a:xfrm>
            <a:off x="838200" y="365125"/>
            <a:ext cx="10515600" cy="1188523"/>
          </a:xfrm>
        </p:spPr>
        <p:txBody>
          <a:bodyPr/>
          <a:lstStyle/>
          <a:p>
            <a:r>
              <a:rPr lang="en-US" dirty="0"/>
              <a:t>Machine Learning</a:t>
            </a:r>
          </a:p>
        </p:txBody>
      </p:sp>
      <p:sp>
        <p:nvSpPr>
          <p:cNvPr id="3" name="Content Placeholder 2">
            <a:extLst>
              <a:ext uri="{FF2B5EF4-FFF2-40B4-BE49-F238E27FC236}">
                <a16:creationId xmlns:a16="http://schemas.microsoft.com/office/drawing/2014/main" id="{3261B83A-9121-8C9D-2857-EC8677BB8FD0}"/>
              </a:ext>
            </a:extLst>
          </p:cNvPr>
          <p:cNvSpPr>
            <a:spLocks noGrp="1"/>
          </p:cNvSpPr>
          <p:nvPr>
            <p:ph idx="1"/>
          </p:nvPr>
        </p:nvSpPr>
        <p:spPr>
          <a:xfrm>
            <a:off x="838199" y="1568825"/>
            <a:ext cx="10665941" cy="2420470"/>
          </a:xfrm>
        </p:spPr>
        <p:txBody>
          <a:bodyPr>
            <a:normAutofit fontScale="70000" lnSpcReduction="20000"/>
          </a:bodyPr>
          <a:lstStyle/>
          <a:p>
            <a:r>
              <a:rPr lang="en-US" b="0" i="0" dirty="0">
                <a:solidFill>
                  <a:srgbClr val="001D35"/>
                </a:solidFill>
                <a:effectLst/>
                <a:latin typeface="Google Sans"/>
              </a:rPr>
              <a:t>Random Forest/Balanced Random Forest/Logistic Regression/XGBoost</a:t>
            </a:r>
          </a:p>
          <a:p>
            <a:pPr algn="l">
              <a:buFont typeface="+mj-lt"/>
              <a:buAutoNum type="arabicPeriod"/>
            </a:pPr>
            <a:r>
              <a:rPr lang="en-US" sz="2200" b="0" i="0" dirty="0">
                <a:effectLst/>
                <a:latin typeface="__fkGroteskNeue_598ab8"/>
              </a:rPr>
              <a:t>Four machine learning models were evaluated on a dataset using features selected by SelectKBest (p-values ≤ 0.05) with Grid Search:</a:t>
            </a:r>
          </a:p>
          <a:p>
            <a:pPr lvl="1">
              <a:buFont typeface="+mj-lt"/>
              <a:buAutoNum type="arabicPeriod"/>
            </a:pPr>
            <a:r>
              <a:rPr lang="en-US" b="0" i="0" dirty="0">
                <a:effectLst/>
                <a:latin typeface="__fkGroteskNeue_598ab8"/>
              </a:rPr>
              <a:t>RandomForestClassifier: Highest accuracy but significant recall drop in validation.</a:t>
            </a:r>
          </a:p>
          <a:p>
            <a:pPr lvl="1">
              <a:buFont typeface="+mj-lt"/>
              <a:buAutoNum type="arabicPeriod"/>
            </a:pPr>
            <a:r>
              <a:rPr lang="en-US" b="0" i="0" dirty="0">
                <a:effectLst/>
                <a:latin typeface="__fkGroteskNeue_598ab8"/>
              </a:rPr>
              <a:t>BalancedRandomForestClassifier: Perfect recall but extremely low accuracy and specificity, indicating failure to learn.</a:t>
            </a:r>
          </a:p>
          <a:p>
            <a:pPr lvl="1">
              <a:buFont typeface="+mj-lt"/>
              <a:buAutoNum type="arabicPeriod"/>
            </a:pPr>
            <a:r>
              <a:rPr lang="en-US" b="0" i="0" dirty="0">
                <a:effectLst/>
                <a:latin typeface="__fkGroteskNeue_598ab8"/>
              </a:rPr>
              <a:t>LogisticRegression: Consistent moderate performance across training and validation.</a:t>
            </a:r>
          </a:p>
          <a:p>
            <a:pPr lvl="1">
              <a:buFont typeface="+mj-lt"/>
              <a:buAutoNum type="arabicPeriod"/>
            </a:pPr>
            <a:r>
              <a:rPr lang="en-US" b="0" i="0" dirty="0">
                <a:effectLst/>
                <a:latin typeface="__fkGroteskNeue_598ab8"/>
              </a:rPr>
              <a:t>XGBClassifier: Second-highest accuracy with balanced performance across metrics.</a:t>
            </a:r>
          </a:p>
          <a:p>
            <a:r>
              <a:rPr lang="en-US" sz="2200" b="0" i="0" dirty="0">
                <a:effectLst/>
                <a:latin typeface="__fkGroteskNeue_598ab8"/>
              </a:rPr>
              <a:t>While RandomForestClassifier achieved the highest accuracy, XGBClassifier demonstrated the most robust and balanced performance, suggesting it's the most reliable model for this dataset and feature selection. A total of 44 features were selected.</a:t>
            </a:r>
            <a:endParaRPr lang="en-US" sz="2200" b="0" i="0" dirty="0">
              <a:solidFill>
                <a:srgbClr val="001D35"/>
              </a:solidFill>
              <a:effectLst/>
              <a:latin typeface="Google Sans"/>
            </a:endParaRPr>
          </a:p>
        </p:txBody>
      </p:sp>
      <p:pic>
        <p:nvPicPr>
          <p:cNvPr id="4" name="Picture 3">
            <a:extLst>
              <a:ext uri="{FF2B5EF4-FFF2-40B4-BE49-F238E27FC236}">
                <a16:creationId xmlns:a16="http://schemas.microsoft.com/office/drawing/2014/main" id="{FCF9BB7E-FBE6-6509-6863-D15FE8F7F5BD}"/>
              </a:ext>
            </a:extLst>
          </p:cNvPr>
          <p:cNvPicPr>
            <a:picLocks noChangeAspect="1"/>
          </p:cNvPicPr>
          <p:nvPr/>
        </p:nvPicPr>
        <p:blipFill>
          <a:blip r:embed="rId2"/>
          <a:stretch>
            <a:fillRect/>
          </a:stretch>
        </p:blipFill>
        <p:spPr>
          <a:xfrm>
            <a:off x="838198" y="4119282"/>
            <a:ext cx="10665941" cy="2642622"/>
          </a:xfrm>
          <a:prstGeom prst="rect">
            <a:avLst/>
          </a:prstGeom>
        </p:spPr>
      </p:pic>
      <p:sp>
        <p:nvSpPr>
          <p:cNvPr id="7" name="Rectangle 6">
            <a:extLst>
              <a:ext uri="{FF2B5EF4-FFF2-40B4-BE49-F238E27FC236}">
                <a16:creationId xmlns:a16="http://schemas.microsoft.com/office/drawing/2014/main" id="{F8B1CFE3-CF9B-4C6F-2119-0DB5FA35682A}"/>
              </a:ext>
            </a:extLst>
          </p:cNvPr>
          <p:cNvSpPr/>
          <p:nvPr/>
        </p:nvSpPr>
        <p:spPr>
          <a:xfrm>
            <a:off x="6096000" y="5729292"/>
            <a:ext cx="5408139" cy="54087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7693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3A619AC-EF33-2092-2B6C-90EEC74CD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935B7-BC8A-2367-D887-8D6CDD4DB814}"/>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7972CF09-B3C8-FABF-3D17-8CC5D59E0201}"/>
              </a:ext>
            </a:extLst>
          </p:cNvPr>
          <p:cNvSpPr>
            <a:spLocks noGrp="1"/>
          </p:cNvSpPr>
          <p:nvPr>
            <p:ph idx="1"/>
          </p:nvPr>
        </p:nvSpPr>
        <p:spPr>
          <a:xfrm>
            <a:off x="838199" y="1568824"/>
            <a:ext cx="10665941" cy="2959433"/>
          </a:xfrm>
        </p:spPr>
        <p:txBody>
          <a:bodyPr>
            <a:noAutofit/>
          </a:bodyPr>
          <a:lstStyle/>
          <a:p>
            <a:r>
              <a:rPr lang="en-US" sz="2000" b="0" i="0" dirty="0">
                <a:solidFill>
                  <a:srgbClr val="001D35"/>
                </a:solidFill>
                <a:effectLst/>
                <a:latin typeface="Google Sans"/>
              </a:rPr>
              <a:t>Random Forest/Logistic Regression/XGBoost</a:t>
            </a:r>
          </a:p>
          <a:p>
            <a:pPr algn="l">
              <a:buFont typeface="+mj-lt"/>
              <a:buAutoNum type="arabicPeriod"/>
            </a:pPr>
            <a:r>
              <a:rPr lang="en-US" sz="1200" b="0" i="0" dirty="0">
                <a:effectLst/>
                <a:latin typeface="__fkGroteskNeue_598ab8"/>
              </a:rPr>
              <a:t>Three machine learning models were evaluated on a dataset using features selected by SelectKBest using f_classif for numeric features and chi2 function for categorical features where p_value &gt; 0.05 with Bayesian Optimization:</a:t>
            </a:r>
          </a:p>
          <a:p>
            <a:r>
              <a:rPr lang="en-US" sz="1200" dirty="0"/>
              <a:t>The performance metrics of the models using Scaled BayesSearchCV and feature selection (chi2 &amp; f_classif) highlight varying levels of effectiveness. The RandomForestClassifier achieves moderate performance, with a training accuracy of 0.666 and validation accuracy of 0.627. However, its recall, F1 score, and ROC AUC score decrease significantly during validation, indicating overfitting and a challenge in maintaining accuracy on new data. Despite identifying true positives effectively during training, its generalization ability is limited.</a:t>
            </a:r>
          </a:p>
          <a:p>
            <a:r>
              <a:rPr lang="en-US" sz="1200" dirty="0"/>
              <a:t>The XGBoostClassifier slightly outperforms the RandomForestClassifier, achieving a validation accuracy of 0.645 and maintaining a more balanced recall, F1 score, and ROC AUC across training and validation datasets. Although its performance also drops from training to validation, the decline is less pronounced, indicating better generalization capabilities. This makes it more reliable for datasets with feature selection.</a:t>
            </a:r>
          </a:p>
          <a:p>
            <a:r>
              <a:rPr lang="en-US" sz="1200" dirty="0"/>
              <a:t>The LogisticRegression model lags behind the other two models, with the lowest validation accuracy (0.602) and weak performance across all metrics, including recall, F1 score, and ROC AUC. Its limited ability to distinguish between classes and its sharp decline in performance on new data make it less suitable for this dataset. Among the models, XGBoostClassifier demonstrates the most balanced and consistent performance, making it the preferred choice for this dataset.</a:t>
            </a:r>
            <a:endParaRPr lang="en-US" sz="1400" b="0" i="0" dirty="0">
              <a:solidFill>
                <a:srgbClr val="001D35"/>
              </a:solidFill>
              <a:effectLst/>
              <a:latin typeface="Google Sans"/>
            </a:endParaRPr>
          </a:p>
        </p:txBody>
      </p:sp>
      <p:pic>
        <p:nvPicPr>
          <p:cNvPr id="5" name="Picture 4">
            <a:extLst>
              <a:ext uri="{FF2B5EF4-FFF2-40B4-BE49-F238E27FC236}">
                <a16:creationId xmlns:a16="http://schemas.microsoft.com/office/drawing/2014/main" id="{325F03A6-EF66-3F48-4EC1-39CEF714393F}"/>
              </a:ext>
            </a:extLst>
          </p:cNvPr>
          <p:cNvPicPr>
            <a:picLocks noChangeAspect="1"/>
          </p:cNvPicPr>
          <p:nvPr/>
        </p:nvPicPr>
        <p:blipFill>
          <a:blip r:embed="rId2"/>
          <a:stretch>
            <a:fillRect/>
          </a:stretch>
        </p:blipFill>
        <p:spPr>
          <a:xfrm>
            <a:off x="838199" y="4528258"/>
            <a:ext cx="10665941" cy="2297812"/>
          </a:xfrm>
          <a:prstGeom prst="rect">
            <a:avLst/>
          </a:prstGeom>
        </p:spPr>
      </p:pic>
      <p:sp>
        <p:nvSpPr>
          <p:cNvPr id="9" name="Rectangle 8">
            <a:extLst>
              <a:ext uri="{FF2B5EF4-FFF2-40B4-BE49-F238E27FC236}">
                <a16:creationId xmlns:a16="http://schemas.microsoft.com/office/drawing/2014/main" id="{7BD85E1B-1177-97EF-5FC5-258AB358FD50}"/>
              </a:ext>
            </a:extLst>
          </p:cNvPr>
          <p:cNvSpPr/>
          <p:nvPr/>
        </p:nvSpPr>
        <p:spPr>
          <a:xfrm>
            <a:off x="6096000" y="5725886"/>
            <a:ext cx="5408140" cy="653143"/>
          </a:xfrm>
          <a:prstGeom prst="rect">
            <a:avLst/>
          </a:prstGeom>
          <a:noFill/>
          <a:ln w="254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6377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D5F5091-B41E-042B-9E88-9687FDE7F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0E914-7F02-2676-3A7C-23FA07953813}"/>
              </a:ext>
            </a:extLst>
          </p:cNvPr>
          <p:cNvSpPr>
            <a:spLocks noGrp="1"/>
          </p:cNvSpPr>
          <p:nvPr>
            <p:ph type="title"/>
          </p:nvPr>
        </p:nvSpPr>
        <p:spPr/>
        <p:txBody>
          <a:bodyPr/>
          <a:lstStyle/>
          <a:p>
            <a:r>
              <a:rPr lang="en-US" dirty="0"/>
              <a:t>Machine Learning</a:t>
            </a:r>
          </a:p>
        </p:txBody>
      </p:sp>
      <p:sp>
        <p:nvSpPr>
          <p:cNvPr id="3" name="Content Placeholder 2">
            <a:extLst>
              <a:ext uri="{FF2B5EF4-FFF2-40B4-BE49-F238E27FC236}">
                <a16:creationId xmlns:a16="http://schemas.microsoft.com/office/drawing/2014/main" id="{9F266763-9DE8-BEF8-556E-BE7C31C84B64}"/>
              </a:ext>
            </a:extLst>
          </p:cNvPr>
          <p:cNvSpPr>
            <a:spLocks noGrp="1"/>
          </p:cNvSpPr>
          <p:nvPr>
            <p:ph idx="1"/>
          </p:nvPr>
        </p:nvSpPr>
        <p:spPr>
          <a:xfrm>
            <a:off x="838199" y="1568824"/>
            <a:ext cx="10665941" cy="2698375"/>
          </a:xfrm>
        </p:spPr>
        <p:txBody>
          <a:bodyPr>
            <a:noAutofit/>
          </a:bodyPr>
          <a:lstStyle/>
          <a:p>
            <a:r>
              <a:rPr lang="en-US" sz="2000" dirty="0">
                <a:solidFill>
                  <a:srgbClr val="001D35"/>
                </a:solidFill>
                <a:latin typeface="Google Sans"/>
              </a:rPr>
              <a:t>Artificial Neural Network(ANN) </a:t>
            </a:r>
            <a:endParaRPr lang="en-US" sz="2000" b="0" i="0" dirty="0">
              <a:solidFill>
                <a:srgbClr val="001D35"/>
              </a:solidFill>
              <a:effectLst/>
              <a:latin typeface="Google Sans"/>
            </a:endParaRPr>
          </a:p>
          <a:p>
            <a:pPr algn="l">
              <a:buFont typeface="+mj-lt"/>
              <a:buAutoNum type="arabicPeriod"/>
            </a:pPr>
            <a:r>
              <a:rPr lang="en-US" sz="1400" b="0" i="0" dirty="0">
                <a:effectLst/>
                <a:latin typeface="__fkGroteskNeue_598ab8"/>
              </a:rPr>
              <a:t>PyTorch</a:t>
            </a:r>
          </a:p>
          <a:p>
            <a:pPr lvl="1">
              <a:buFont typeface="+mj-lt"/>
              <a:buAutoNum type="arabicPeriod"/>
            </a:pPr>
            <a:r>
              <a:rPr lang="en-US" sz="1200" b="0" i="0" u="none" strike="noStrike" dirty="0">
                <a:solidFill>
                  <a:srgbClr val="0E101A"/>
                </a:solidFill>
                <a:effectLst/>
              </a:rPr>
              <a:t>The </a:t>
            </a:r>
            <a:r>
              <a:rPr lang="en-US" sz="1200" b="1" i="0" u="none" strike="noStrike" dirty="0">
                <a:solidFill>
                  <a:srgbClr val="0E101A"/>
                </a:solidFill>
                <a:effectLst/>
              </a:rPr>
              <a:t>WeightedRandomSampler</a:t>
            </a:r>
            <a:r>
              <a:rPr lang="en-US" sz="1200" b="0" i="0" u="none" strike="noStrike" dirty="0">
                <a:solidFill>
                  <a:srgbClr val="0E101A"/>
                </a:solidFill>
                <a:effectLst/>
              </a:rPr>
              <a:t> in PyTorch utility was used to handle </a:t>
            </a:r>
            <a:r>
              <a:rPr lang="en-US" sz="1200" b="1" i="0" u="none" strike="noStrike" dirty="0">
                <a:solidFill>
                  <a:srgbClr val="0E101A"/>
                </a:solidFill>
                <a:effectLst/>
              </a:rPr>
              <a:t>imbalanced datasets</a:t>
            </a:r>
          </a:p>
          <a:p>
            <a:pPr lvl="1">
              <a:buFont typeface="+mj-lt"/>
              <a:buAutoNum type="arabicPeriod"/>
            </a:pPr>
            <a:r>
              <a:rPr lang="en-US" sz="1200" b="0" i="0" dirty="0">
                <a:effectLst/>
                <a:latin typeface="__fkGroteskNeue_598ab8"/>
              </a:rPr>
              <a:t>Encode and MinMax Scale dataset</a:t>
            </a:r>
          </a:p>
          <a:p>
            <a:pPr lvl="1">
              <a:buFont typeface="+mj-lt"/>
              <a:buAutoNum type="arabicPeriod"/>
            </a:pPr>
            <a:r>
              <a:rPr lang="en-US" sz="1200" dirty="0">
                <a:latin typeface="__fkGroteskNeue_598ab8"/>
              </a:rPr>
              <a:t>Batch size = 32 &amp; Hidden Layers = [512, 256, 128] &amp; Dropout Rate = 0.25 &amp; </a:t>
            </a:r>
            <a:r>
              <a:rPr lang="en-US" sz="1050" b="0" i="0" dirty="0">
                <a:effectLst/>
                <a:latin typeface="__fkGroteskNeue_598ab8"/>
              </a:rPr>
              <a:t>Batch Normalization &amp; L2 Regularization &amp; criterion = FocalLoss() &amp; classification threshold value of 0.25</a:t>
            </a:r>
          </a:p>
          <a:p>
            <a:pPr lvl="1">
              <a:buFont typeface="+mj-lt"/>
              <a:buAutoNum type="arabicPeriod"/>
            </a:pPr>
            <a:r>
              <a:rPr lang="en-US" sz="1200" b="0" i="0" dirty="0">
                <a:effectLst/>
                <a:latin typeface="__fkGroteskNeue_598ab8"/>
              </a:rPr>
              <a:t>(network): Sequential( (0): Linear(in_features=204, out_features=512, bias=True) (1): BatchNorm1d(512, eps=1e-05, momentum=0.1, affine=True, track_running_stats=True) (2): ReLU() (3): Dropout(p=0.25, inplace=False) (4): Linear(in_features=512, out_features=256, bias=True) (5): BatchNorm1d(256, eps=1e-05, momentum=0.1, affine=True, track_running_stats=True) (6): ReLU() (7): Dropout(p=0.25, inplace=False) (8): Linear(in_features=256, out_features=128, bias=True) (9): BatchNorm1d(128, eps=1e-05, momentum=0.1, affine=True, track_running_stats=True) (10): ReLU() (11): Dropout(p=0.25, inplace=False) (12): Linear(in_features=128, out_features=1, bias=True) (13): Sigmoid() ) )</a:t>
            </a:r>
          </a:p>
        </p:txBody>
      </p:sp>
      <p:pic>
        <p:nvPicPr>
          <p:cNvPr id="4" name="Picture 3">
            <a:extLst>
              <a:ext uri="{FF2B5EF4-FFF2-40B4-BE49-F238E27FC236}">
                <a16:creationId xmlns:a16="http://schemas.microsoft.com/office/drawing/2014/main" id="{4E912B05-70DE-FD63-81CD-DA3557091944}"/>
              </a:ext>
            </a:extLst>
          </p:cNvPr>
          <p:cNvPicPr>
            <a:picLocks noChangeAspect="1"/>
          </p:cNvPicPr>
          <p:nvPr/>
        </p:nvPicPr>
        <p:blipFill>
          <a:blip r:embed="rId2"/>
          <a:stretch>
            <a:fillRect/>
          </a:stretch>
        </p:blipFill>
        <p:spPr>
          <a:xfrm>
            <a:off x="838199" y="4267200"/>
            <a:ext cx="10665940" cy="2225675"/>
          </a:xfrm>
          <a:prstGeom prst="rect">
            <a:avLst/>
          </a:prstGeom>
        </p:spPr>
      </p:pic>
    </p:spTree>
    <p:extLst>
      <p:ext uri="{BB962C8B-B14F-4D97-AF65-F5344CB8AC3E}">
        <p14:creationId xmlns:p14="http://schemas.microsoft.com/office/powerpoint/2010/main" val="4215016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4F59BE4-8B47-2E48-4DCE-293CFD2F0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F510CB-7751-64DC-07DD-0F542532B5FC}"/>
              </a:ext>
            </a:extLst>
          </p:cNvPr>
          <p:cNvSpPr>
            <a:spLocks noGrp="1"/>
          </p:cNvSpPr>
          <p:nvPr>
            <p:ph type="title"/>
          </p:nvPr>
        </p:nvSpPr>
        <p:spPr/>
        <p:txBody>
          <a:bodyPr/>
          <a:lstStyle/>
          <a:p>
            <a:r>
              <a:rPr lang="en-US" b="0" i="0" dirty="0">
                <a:solidFill>
                  <a:srgbClr val="001D35"/>
                </a:solidFill>
                <a:effectLst/>
                <a:latin typeface="Google Sans"/>
              </a:rPr>
              <a:t>Recurring Important </a:t>
            </a:r>
            <a:r>
              <a:rPr lang="en-US" dirty="0">
                <a:solidFill>
                  <a:srgbClr val="001D35"/>
                </a:solidFill>
                <a:latin typeface="Google Sans"/>
              </a:rPr>
              <a:t>F</a:t>
            </a:r>
            <a:r>
              <a:rPr lang="en-US" b="0" i="0" dirty="0">
                <a:solidFill>
                  <a:srgbClr val="001D35"/>
                </a:solidFill>
                <a:effectLst/>
                <a:latin typeface="Google Sans"/>
              </a:rPr>
              <a:t>eatures</a:t>
            </a:r>
            <a:endParaRPr lang="en-US" dirty="0"/>
          </a:p>
        </p:txBody>
      </p:sp>
      <p:sp>
        <p:nvSpPr>
          <p:cNvPr id="3" name="Content Placeholder 2">
            <a:extLst>
              <a:ext uri="{FF2B5EF4-FFF2-40B4-BE49-F238E27FC236}">
                <a16:creationId xmlns:a16="http://schemas.microsoft.com/office/drawing/2014/main" id="{DF8BA735-24E1-6C2A-E014-59A1AFA879E9}"/>
              </a:ext>
            </a:extLst>
          </p:cNvPr>
          <p:cNvSpPr>
            <a:spLocks noGrp="1"/>
          </p:cNvSpPr>
          <p:nvPr>
            <p:ph idx="1"/>
          </p:nvPr>
        </p:nvSpPr>
        <p:spPr>
          <a:xfrm>
            <a:off x="838199" y="1568824"/>
            <a:ext cx="10665941" cy="4924051"/>
          </a:xfrm>
        </p:spPr>
        <p:txBody>
          <a:bodyPr>
            <a:noAutofit/>
          </a:bodyPr>
          <a:lstStyle/>
          <a:p>
            <a:r>
              <a:rPr lang="en-US" sz="2000" dirty="0">
                <a:solidFill>
                  <a:srgbClr val="001D35"/>
                </a:solidFill>
                <a:latin typeface="Google Sans"/>
              </a:rPr>
              <a:t>Important Features</a:t>
            </a:r>
            <a:endParaRPr lang="en-US" sz="2000" b="0" i="0" dirty="0">
              <a:solidFill>
                <a:srgbClr val="001D35"/>
              </a:solidFill>
              <a:effectLst/>
              <a:latin typeface="Google Sans"/>
            </a:endParaRPr>
          </a:p>
          <a:p>
            <a:pPr algn="l">
              <a:buFont typeface="+mj-lt"/>
              <a:buAutoNum type="arabicPeriod"/>
            </a:pPr>
            <a:r>
              <a:rPr lang="en-US" sz="1600" b="0" i="0" dirty="0">
                <a:effectLst/>
                <a:latin typeface="__fkGroteskNeue_598ab8"/>
              </a:rPr>
              <a:t>Random Forest/XGBoost</a:t>
            </a:r>
          </a:p>
          <a:p>
            <a:pPr lvl="1">
              <a:buFont typeface="+mj-lt"/>
              <a:buAutoNum type="arabicPeriod"/>
            </a:pPr>
            <a:r>
              <a:rPr lang="en-US" sz="1200" b="0" i="0" dirty="0">
                <a:effectLst/>
                <a:latin typeface="__fkGroteskNeue_598ab8"/>
              </a:rPr>
              <a:t> </a:t>
            </a:r>
            <a:r>
              <a:rPr lang="en-US" sz="1400" b="0" i="0" dirty="0">
                <a:effectLst/>
                <a:latin typeface="__fkGroteskNeue_598ab8"/>
              </a:rPr>
              <a:t>From the algorithms above, the discovery of import features for classification models:</a:t>
            </a:r>
          </a:p>
          <a:p>
            <a:pPr lvl="3">
              <a:buFont typeface="+mj-lt"/>
              <a:buAutoNum type="arabicPeriod"/>
            </a:pPr>
            <a:r>
              <a:rPr lang="en-US" sz="1200" dirty="0"/>
              <a:t>TotalBilirubin_Addition </a:t>
            </a:r>
            <a:endParaRPr lang="en-US" sz="1200" dirty="0">
              <a:latin typeface="__fkGroteskNeue_598ab8"/>
            </a:endParaRPr>
          </a:p>
          <a:p>
            <a:pPr lvl="3">
              <a:buFont typeface="+mj-lt"/>
              <a:buAutoNum type="arabicPeriod"/>
            </a:pPr>
            <a:r>
              <a:rPr lang="en-US" sz="1200" dirty="0"/>
              <a:t>TotalDayWaitList_CAN</a:t>
            </a:r>
            <a:endParaRPr lang="en-US" sz="1200" dirty="0">
              <a:latin typeface="__fkGroteskNeue_598ab8"/>
            </a:endParaRPr>
          </a:p>
          <a:p>
            <a:pPr lvl="3">
              <a:buFont typeface="+mj-lt"/>
              <a:buAutoNum type="arabicPeriod"/>
            </a:pPr>
            <a:r>
              <a:rPr lang="en-US" sz="1200" dirty="0"/>
              <a:t>HeightCm_Difference</a:t>
            </a:r>
            <a:endParaRPr lang="en-US" sz="1200" dirty="0">
              <a:latin typeface="__fkGroteskNeue_598ab8"/>
            </a:endParaRPr>
          </a:p>
          <a:p>
            <a:pPr lvl="3">
              <a:buFont typeface="+mj-lt"/>
              <a:buAutoNum type="arabicPeriod"/>
            </a:pPr>
            <a:r>
              <a:rPr lang="en-US" sz="1200" dirty="0"/>
              <a:t>Creatinine_Difference</a:t>
            </a:r>
            <a:endParaRPr lang="en-US" sz="1200" dirty="0">
              <a:latin typeface="__fkGroteskNeue_598ab8"/>
            </a:endParaRPr>
          </a:p>
          <a:p>
            <a:pPr lvl="3">
              <a:buFont typeface="+mj-lt"/>
              <a:buAutoNum type="arabicPeriod"/>
            </a:pPr>
            <a:r>
              <a:rPr lang="en-US" sz="1200" dirty="0"/>
              <a:t>DistanceFrom_HospitaltoTXCenter</a:t>
            </a:r>
          </a:p>
          <a:p>
            <a:pPr lvl="3">
              <a:buFont typeface="+mj-lt"/>
              <a:buAutoNum type="arabicPeriod"/>
            </a:pPr>
            <a:r>
              <a:rPr lang="en-US" sz="1200" dirty="0"/>
              <a:t>IschemicTimeHours_DON</a:t>
            </a:r>
          </a:p>
          <a:p>
            <a:pPr lvl="3">
              <a:buFont typeface="+mj-lt"/>
              <a:buAutoNum type="arabicPeriod"/>
            </a:pPr>
            <a:r>
              <a:rPr lang="en-US" sz="1200" dirty="0"/>
              <a:t>Transfusion_CAN_Y</a:t>
            </a:r>
          </a:p>
          <a:p>
            <a:pPr lvl="3">
              <a:buFont typeface="+mj-lt"/>
              <a:buAutoNum type="arabicPeriod"/>
            </a:pPr>
            <a:r>
              <a:rPr lang="en-US" sz="1200" dirty="0"/>
              <a:t>Diabetes_CAN_Yes</a:t>
            </a:r>
          </a:p>
          <a:p>
            <a:pPr lvl="3">
              <a:buFont typeface="+mj-lt"/>
              <a:buAutoNum type="arabicPeriod"/>
            </a:pPr>
            <a:r>
              <a:rPr lang="en-US" sz="1200" dirty="0"/>
              <a:t>MismatchLevel_LOCUS</a:t>
            </a:r>
          </a:p>
          <a:p>
            <a:pPr lvl="3">
              <a:buFont typeface="+mj-lt"/>
              <a:buAutoNum type="arabicPeriod"/>
            </a:pPr>
            <a:r>
              <a:rPr lang="en-US" sz="1200" dirty="0"/>
              <a:t>PriorCardiacSurgery_CAN_Y</a:t>
            </a:r>
          </a:p>
          <a:p>
            <a:pPr lvl="3">
              <a:buFont typeface="+mj-lt"/>
              <a:buAutoNum type="arabicPeriod"/>
            </a:pPr>
            <a:endParaRPr lang="en-US" sz="1200" b="0" i="0" dirty="0">
              <a:effectLst/>
              <a:latin typeface="__fkGroteskNeue_598ab8"/>
            </a:endParaRPr>
          </a:p>
          <a:p>
            <a:pPr lvl="3">
              <a:buFont typeface="+mj-lt"/>
              <a:buAutoNum type="arabicPeriod"/>
            </a:pPr>
            <a:endParaRPr lang="en-US" sz="1200" dirty="0">
              <a:latin typeface="__fkGroteskNeue_598ab8"/>
            </a:endParaRPr>
          </a:p>
          <a:p>
            <a:pPr marL="0" indent="0">
              <a:buNone/>
            </a:pPr>
            <a:r>
              <a:rPr lang="en-US" sz="1600" b="0" i="0" dirty="0">
                <a:effectLst/>
                <a:latin typeface="__fkGroteskNeue_598ab8"/>
              </a:rPr>
              <a:t>Note: The above features consistently play a significant role across various classification models, although not in a specific order of importance. This recurring theme suggests these features are crucial for the model's predictive performance. Their consistent presence across different algorithms highlights their relevance in capturing the underlying patterns within the dataset, making them essential for achieving accurate classification results.</a:t>
            </a:r>
          </a:p>
        </p:txBody>
      </p:sp>
    </p:spTree>
    <p:extLst>
      <p:ext uri="{BB962C8B-B14F-4D97-AF65-F5344CB8AC3E}">
        <p14:creationId xmlns:p14="http://schemas.microsoft.com/office/powerpoint/2010/main" val="522368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11E9130-4DC0-A956-D5FD-559600E68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946CD-C061-EE10-2C9A-C1C1ED5A62EB}"/>
              </a:ext>
            </a:extLst>
          </p:cNvPr>
          <p:cNvSpPr>
            <a:spLocks noGrp="1"/>
          </p:cNvSpPr>
          <p:nvPr>
            <p:ph type="title"/>
          </p:nvPr>
        </p:nvSpPr>
        <p:spPr/>
        <p:txBody>
          <a:bodyPr/>
          <a:lstStyle/>
          <a:p>
            <a:r>
              <a:rPr lang="en-US" b="0" i="0" dirty="0">
                <a:solidFill>
                  <a:srgbClr val="001D35"/>
                </a:solidFill>
                <a:effectLst/>
                <a:latin typeface="Google Sans"/>
              </a:rPr>
              <a:t>Survival Analysis</a:t>
            </a:r>
            <a:endParaRPr lang="en-US" dirty="0"/>
          </a:p>
        </p:txBody>
      </p:sp>
      <p:sp>
        <p:nvSpPr>
          <p:cNvPr id="3" name="Content Placeholder 2">
            <a:extLst>
              <a:ext uri="{FF2B5EF4-FFF2-40B4-BE49-F238E27FC236}">
                <a16:creationId xmlns:a16="http://schemas.microsoft.com/office/drawing/2014/main" id="{169993A3-4479-ABE0-3365-B80EF3EE64A5}"/>
              </a:ext>
            </a:extLst>
          </p:cNvPr>
          <p:cNvSpPr>
            <a:spLocks noGrp="1"/>
          </p:cNvSpPr>
          <p:nvPr>
            <p:ph idx="1"/>
          </p:nvPr>
        </p:nvSpPr>
        <p:spPr>
          <a:xfrm>
            <a:off x="838199" y="1568824"/>
            <a:ext cx="10665941" cy="4924051"/>
          </a:xfrm>
        </p:spPr>
        <p:txBody>
          <a:bodyPr>
            <a:noAutofit/>
          </a:bodyPr>
          <a:lstStyle/>
          <a:p>
            <a:r>
              <a:rPr lang="en-US" sz="3600" b="0" i="0" dirty="0">
                <a:solidFill>
                  <a:srgbClr val="001D35"/>
                </a:solidFill>
                <a:effectLst/>
                <a:latin typeface="Google Sans"/>
              </a:rPr>
              <a:t>Survival Analysis</a:t>
            </a:r>
            <a:endParaRPr lang="en-US" sz="2000" dirty="0">
              <a:solidFill>
                <a:srgbClr val="001D35"/>
              </a:solidFill>
              <a:latin typeface="Google Sans"/>
            </a:endParaRPr>
          </a:p>
          <a:p>
            <a:pPr lvl="1"/>
            <a:r>
              <a:rPr lang="en-US" sz="1600" dirty="0">
                <a:solidFill>
                  <a:srgbClr val="001D35"/>
                </a:solidFill>
                <a:latin typeface="Google Sans"/>
              </a:rPr>
              <a:t>RandomSurvivalForest/ GradientBoostingSurvivalAnalysis/CoxPHSurvivalAnalysis</a:t>
            </a:r>
          </a:p>
          <a:p>
            <a:pPr lvl="2"/>
            <a:r>
              <a:rPr lang="en-US" sz="1200" dirty="0">
                <a:solidFill>
                  <a:srgbClr val="001D35"/>
                </a:solidFill>
                <a:latin typeface="Google Sans"/>
              </a:rPr>
              <a:t>Currently, the focus is on analyzing survival data using three advanced algorithms: Random Survival Forests (RSF), Gradient Boosting Survival Analysis, and Cox Proportional Hazards (CoxPH) Survival Analysis for TransplantStatus_CAN &amp; TransplantSurvivalDay_CAN. </a:t>
            </a:r>
          </a:p>
          <a:p>
            <a:pPr algn="l">
              <a:buFont typeface="+mj-lt"/>
              <a:buAutoNum type="arabicPeriod"/>
            </a:pPr>
            <a:r>
              <a:rPr lang="en-US" sz="1400" b="1" i="0" u="none" strike="noStrike" dirty="0">
                <a:solidFill>
                  <a:srgbClr val="0E101A"/>
                </a:solidFill>
                <a:effectLst/>
              </a:rPr>
              <a:t>Random Survival Forests (RSF)</a:t>
            </a:r>
            <a:r>
              <a:rPr lang="en-US" sz="1400" b="0" i="0" u="none" strike="noStrike" dirty="0">
                <a:solidFill>
                  <a:srgbClr val="0E101A"/>
                </a:solidFill>
                <a:effectLst/>
              </a:rPr>
              <a:t>: This ensemble method extends traditional random forests to handle right-censored survival data. RSF builds multiple survival trees using bootstrapped samples and random feature selection at each node, which enhances model robustness and reduces overfitting. The main output is an ensemble cumulative hazard function, providing a non-parametric estimation of survival probabilities without assuming proportional hazards.</a:t>
            </a:r>
          </a:p>
          <a:p>
            <a:pPr algn="l">
              <a:buFont typeface="+mj-lt"/>
              <a:buAutoNum type="arabicPeriod"/>
            </a:pPr>
            <a:r>
              <a:rPr lang="en-US" sz="1400" b="1" i="0" u="none" strike="noStrike" dirty="0">
                <a:solidFill>
                  <a:srgbClr val="0E101A"/>
                </a:solidFill>
                <a:effectLst/>
              </a:rPr>
              <a:t>Gradient Boosting Survival Analysis</a:t>
            </a:r>
            <a:r>
              <a:rPr lang="en-US" sz="1400" b="0" i="0" u="none" strike="noStrike" dirty="0">
                <a:solidFill>
                  <a:srgbClr val="0E101A"/>
                </a:solidFill>
                <a:effectLst/>
              </a:rPr>
              <a:t>: This approach applies the principles of gradient boosting to survival data, focusing on minimizing prediction errors through iterative improvements. It is beneficial for handling complex datasets with non-linear relationships and interactions among variables. Gradient boosting offers flexibility in model tuning and can effectively manage high-dimensional data.</a:t>
            </a:r>
          </a:p>
          <a:p>
            <a:pPr algn="l">
              <a:buFont typeface="+mj-lt"/>
              <a:buAutoNum type="arabicPeriod"/>
            </a:pPr>
            <a:r>
              <a:rPr lang="en-US" sz="1400" b="1" i="0" u="none" strike="noStrike" dirty="0">
                <a:solidFill>
                  <a:srgbClr val="0E101A"/>
                </a:solidFill>
                <a:effectLst/>
              </a:rPr>
              <a:t>Cox Proportional Hazards Model (CoxPH)</a:t>
            </a:r>
            <a:r>
              <a:rPr lang="en-US" sz="1400" b="0" i="0" u="none" strike="noStrike" dirty="0">
                <a:solidFill>
                  <a:srgbClr val="0E101A"/>
                </a:solidFill>
                <a:effectLst/>
              </a:rPr>
              <a:t>: A semi-parametric model commonly used in survival analysis, CoxPH assesses the impact of covariates on the hazard rate while assuming proportional hazards over time. It provides interpretable coefficients that indicate the relative risk associated with each predictor, making it a valuable tool for understanding the influence of variables on survival outcomes.</a:t>
            </a:r>
          </a:p>
          <a:p>
            <a:pPr algn="l">
              <a:buFont typeface="+mj-lt"/>
              <a:buAutoNum type="arabicPeriod"/>
            </a:pPr>
            <a:endParaRPr lang="en-US" sz="1400" dirty="0">
              <a:solidFill>
                <a:srgbClr val="0E101A"/>
              </a:solidFill>
              <a:latin typeface="__fkGroteskNeue_598ab8"/>
            </a:endParaRPr>
          </a:p>
          <a:p>
            <a:pPr marL="0" indent="0" algn="l">
              <a:buNone/>
            </a:pPr>
            <a:r>
              <a:rPr lang="en-US" sz="1600" dirty="0">
                <a:solidFill>
                  <a:srgbClr val="001D35"/>
                </a:solidFill>
                <a:latin typeface="__fkGroteskNeue_598ab8"/>
              </a:rPr>
              <a:t>These algorithms offer complementary strengths for survival analysis, allowing for a comprehensive evaluation of time-to-event data by leveraging both parametric and non-parametric methods.</a:t>
            </a:r>
          </a:p>
          <a:p>
            <a:pPr marL="0" indent="0">
              <a:buNone/>
            </a:pPr>
            <a:endParaRPr lang="en-US" sz="1200" dirty="0">
              <a:latin typeface="__fkGroteskNeue_598ab8"/>
            </a:endParaRPr>
          </a:p>
        </p:txBody>
      </p:sp>
    </p:spTree>
    <p:extLst>
      <p:ext uri="{BB962C8B-B14F-4D97-AF65-F5344CB8AC3E}">
        <p14:creationId xmlns:p14="http://schemas.microsoft.com/office/powerpoint/2010/main" val="395520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D0D85F8-DC94-053B-B4CF-252982E60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8D445-B403-43A1-269D-1A8452E21991}"/>
              </a:ext>
            </a:extLst>
          </p:cNvPr>
          <p:cNvSpPr>
            <a:spLocks noGrp="1"/>
          </p:cNvSpPr>
          <p:nvPr>
            <p:ph type="title"/>
          </p:nvPr>
        </p:nvSpPr>
        <p:spPr/>
        <p:txBody>
          <a:bodyPr/>
          <a:lstStyle/>
          <a:p>
            <a:r>
              <a:rPr lang="en-US" b="0" i="0" dirty="0">
                <a:solidFill>
                  <a:srgbClr val="001D35"/>
                </a:solidFill>
                <a:effectLst/>
                <a:latin typeface="Google Sans"/>
              </a:rPr>
              <a:t>Future Work</a:t>
            </a:r>
            <a:endParaRPr lang="en-US" dirty="0"/>
          </a:p>
        </p:txBody>
      </p:sp>
      <p:sp>
        <p:nvSpPr>
          <p:cNvPr id="3" name="Content Placeholder 2">
            <a:extLst>
              <a:ext uri="{FF2B5EF4-FFF2-40B4-BE49-F238E27FC236}">
                <a16:creationId xmlns:a16="http://schemas.microsoft.com/office/drawing/2014/main" id="{F2F976DC-AB10-3399-34AB-98188F4DA73D}"/>
              </a:ext>
            </a:extLst>
          </p:cNvPr>
          <p:cNvSpPr>
            <a:spLocks noGrp="1"/>
          </p:cNvSpPr>
          <p:nvPr>
            <p:ph idx="1"/>
          </p:nvPr>
        </p:nvSpPr>
        <p:spPr>
          <a:xfrm>
            <a:off x="838200" y="1933949"/>
            <a:ext cx="10665941" cy="4924051"/>
          </a:xfrm>
        </p:spPr>
        <p:txBody>
          <a:bodyPr>
            <a:noAutofit/>
          </a:bodyPr>
          <a:lstStyle/>
          <a:p>
            <a:r>
              <a:rPr lang="en-US" sz="2000" b="0" i="0" dirty="0">
                <a:solidFill>
                  <a:srgbClr val="001D35"/>
                </a:solidFill>
                <a:effectLst/>
                <a:latin typeface="Google Sans"/>
              </a:rPr>
              <a:t>Feature Engineering:</a:t>
            </a:r>
          </a:p>
          <a:p>
            <a:pPr lvl="1"/>
            <a:r>
              <a:rPr lang="en-US" sz="1400" dirty="0"/>
              <a:t>Feature engineering leverages the insights from important features to refine existing ones or create new ones. By enhancing feature quality and introducing meaningful variables, models can capture deeper patterns, improve predictive accuracy, and generalize better.</a:t>
            </a:r>
          </a:p>
          <a:p>
            <a:pPr lvl="1"/>
            <a:r>
              <a:rPr lang="en-US" sz="1400" b="1" dirty="0"/>
              <a:t>SHAP/Permutation Importance</a:t>
            </a:r>
            <a:r>
              <a:rPr lang="en-US" sz="1400" dirty="0"/>
              <a:t> to identify high-impact features</a:t>
            </a:r>
          </a:p>
          <a:p>
            <a:r>
              <a:rPr lang="en-US" sz="2000" b="0" i="0" dirty="0">
                <a:solidFill>
                  <a:srgbClr val="001D35"/>
                </a:solidFill>
                <a:effectLst/>
                <a:latin typeface="Google Sans"/>
              </a:rPr>
              <a:t>Clustering:</a:t>
            </a:r>
            <a:endParaRPr lang="en-US" sz="3600" b="0" i="0" dirty="0">
              <a:solidFill>
                <a:srgbClr val="001D35"/>
              </a:solidFill>
              <a:effectLst/>
              <a:latin typeface="Google Sans"/>
            </a:endParaRPr>
          </a:p>
          <a:p>
            <a:pPr lvl="1"/>
            <a:r>
              <a:rPr lang="en-US" sz="1600" dirty="0">
                <a:solidFill>
                  <a:srgbClr val="001D35"/>
                </a:solidFill>
                <a:latin typeface="Google Sans"/>
              </a:rPr>
              <a:t>Cluster Candidates &amp; Donors</a:t>
            </a:r>
          </a:p>
          <a:p>
            <a:pPr lvl="2"/>
            <a:r>
              <a:rPr lang="en-US" sz="1400" b="1" dirty="0"/>
              <a:t>Clustering Candidates and Donors</a:t>
            </a:r>
            <a:r>
              <a:rPr lang="en-US" sz="1400" dirty="0"/>
              <a:t> involves segmenting individuals based on their similarities across key characteristics to derive insights that can improve decision-making in organ transplantation.</a:t>
            </a:r>
          </a:p>
          <a:p>
            <a:pPr lvl="2"/>
            <a:r>
              <a:rPr lang="en-US" sz="1400" dirty="0"/>
              <a:t>By grouping candidates and donors, healthcare providers can identify patterns and trends, optimize matching processes, and enhance fairness and efficiency in organ allocation.</a:t>
            </a:r>
          </a:p>
          <a:p>
            <a:r>
              <a:rPr lang="en-US" sz="2000" b="0" i="0" dirty="0">
                <a:solidFill>
                  <a:srgbClr val="001D35"/>
                </a:solidFill>
                <a:effectLst/>
                <a:latin typeface="Google Sans"/>
              </a:rPr>
              <a:t>Linear Regression</a:t>
            </a:r>
            <a:r>
              <a:rPr lang="en-US" b="0" i="0" dirty="0">
                <a:solidFill>
                  <a:srgbClr val="001D35"/>
                </a:solidFill>
                <a:effectLst/>
                <a:latin typeface="Google Sans"/>
              </a:rPr>
              <a:t>:</a:t>
            </a:r>
          </a:p>
          <a:p>
            <a:pPr lvl="1"/>
            <a:r>
              <a:rPr lang="en-US" sz="1400" dirty="0"/>
              <a:t>Predicting the </a:t>
            </a:r>
            <a:r>
              <a:rPr lang="en-US" sz="1400" b="1" dirty="0"/>
              <a:t>Length of Stay</a:t>
            </a:r>
            <a:r>
              <a:rPr lang="en-US" sz="1400" dirty="0"/>
              <a:t> at the hospital following a heart transplantation is a crucial task for optimizing healthcare resource allocation and improving patient outcomes.</a:t>
            </a:r>
          </a:p>
          <a:p>
            <a:pPr lvl="1"/>
            <a:r>
              <a:rPr lang="en-US" sz="1400" dirty="0"/>
              <a:t>Techniques such as regression analysis, tree-based models, or neural networks can be applied to achieve accurate forecasts.</a:t>
            </a:r>
            <a:endParaRPr lang="en-US" sz="1400" b="0" i="0" dirty="0">
              <a:solidFill>
                <a:srgbClr val="001D35"/>
              </a:solidFill>
              <a:effectLst/>
              <a:latin typeface="Google Sans"/>
            </a:endParaRPr>
          </a:p>
          <a:p>
            <a:endParaRPr lang="en-US" sz="2000" dirty="0">
              <a:solidFill>
                <a:srgbClr val="001D35"/>
              </a:solidFill>
              <a:latin typeface="Google Sans"/>
            </a:endParaRPr>
          </a:p>
          <a:p>
            <a:pPr marL="0" indent="0">
              <a:buNone/>
            </a:pPr>
            <a:endParaRPr lang="en-US" sz="1200" dirty="0">
              <a:latin typeface="__fkGroteskNeue_598ab8"/>
            </a:endParaRPr>
          </a:p>
        </p:txBody>
      </p:sp>
    </p:spTree>
    <p:extLst>
      <p:ext uri="{BB962C8B-B14F-4D97-AF65-F5344CB8AC3E}">
        <p14:creationId xmlns:p14="http://schemas.microsoft.com/office/powerpoint/2010/main" val="346539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F74DA78-87E3-70E6-48C4-842C98EB9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FB722-BCCF-4E14-5302-377C48560965}"/>
              </a:ext>
            </a:extLst>
          </p:cNvPr>
          <p:cNvSpPr>
            <a:spLocks noGrp="1"/>
          </p:cNvSpPr>
          <p:nvPr>
            <p:ph type="title"/>
          </p:nvPr>
        </p:nvSpPr>
        <p:spPr/>
        <p:txBody>
          <a:bodyPr/>
          <a:lstStyle/>
          <a:p>
            <a:r>
              <a:rPr lang="en-US" b="0" i="0" dirty="0">
                <a:solidFill>
                  <a:srgbClr val="001D35"/>
                </a:solidFill>
                <a:effectLst/>
                <a:latin typeface="Google Sans"/>
              </a:rPr>
              <a:t>References:</a:t>
            </a:r>
            <a:endParaRPr lang="en-US" dirty="0"/>
          </a:p>
        </p:txBody>
      </p:sp>
      <p:sp>
        <p:nvSpPr>
          <p:cNvPr id="7" name="TextBox 6">
            <a:extLst>
              <a:ext uri="{FF2B5EF4-FFF2-40B4-BE49-F238E27FC236}">
                <a16:creationId xmlns:a16="http://schemas.microsoft.com/office/drawing/2014/main" id="{BA2C0CA4-2D91-A8FC-8EB4-F413626E7208}"/>
              </a:ext>
            </a:extLst>
          </p:cNvPr>
          <p:cNvSpPr txBox="1"/>
          <p:nvPr/>
        </p:nvSpPr>
        <p:spPr>
          <a:xfrm>
            <a:off x="533400" y="2028616"/>
            <a:ext cx="11451771" cy="2800767"/>
          </a:xfrm>
          <a:prstGeom prst="rect">
            <a:avLst/>
          </a:prstGeom>
          <a:noFill/>
        </p:spPr>
        <p:txBody>
          <a:bodyPr wrap="square" rtlCol="0">
            <a:spAutoFit/>
          </a:bodyPr>
          <a:lstStyle/>
          <a:p>
            <a:pPr marL="285750" indent="-285750">
              <a:buFontTx/>
              <a:buChar char="-"/>
            </a:pPr>
            <a:r>
              <a:rPr lang="en-US" sz="2000" dirty="0">
                <a:latin typeface="+mj-lt"/>
                <a:hlinkClick r:id="rId2"/>
              </a:rPr>
              <a:t>Heart Transplant Outcome Prediction using UNOS Data</a:t>
            </a:r>
            <a:endParaRPr lang="en-US" sz="2000" dirty="0">
              <a:latin typeface="+mj-lt"/>
            </a:endParaRPr>
          </a:p>
          <a:p>
            <a:pPr marL="285750" indent="-285750">
              <a:buFontTx/>
              <a:buChar char="-"/>
            </a:pPr>
            <a:r>
              <a:rPr lang="en-US" sz="2000" dirty="0">
                <a:effectLst/>
                <a:latin typeface="+mj-lt"/>
                <a:hlinkClick r:id="rId3"/>
              </a:rPr>
              <a:t>Predictive Abilities of Machine Learning Techniques May Be Limited by Dataset Characteristics</a:t>
            </a:r>
            <a:endParaRPr lang="en-US" sz="2000" dirty="0">
              <a:effectLst/>
              <a:latin typeface="+mj-lt"/>
            </a:endParaRPr>
          </a:p>
          <a:p>
            <a:pPr marL="285750" indent="-285750">
              <a:buFontTx/>
              <a:buChar char="-"/>
            </a:pPr>
            <a:r>
              <a:rPr lang="en-US" sz="2000" dirty="0">
                <a:effectLst/>
                <a:latin typeface="+mj-lt"/>
                <a:hlinkClick r:id="rId4"/>
              </a:rPr>
              <a:t>Personalized Donor-Recipient Matching for Organ Transplantation</a:t>
            </a:r>
            <a:endParaRPr lang="en-US" sz="2000" dirty="0">
              <a:effectLst/>
              <a:latin typeface="+mj-lt"/>
            </a:endParaRPr>
          </a:p>
          <a:p>
            <a:pPr marL="285750" indent="-285750">
              <a:buFontTx/>
              <a:buChar char="-"/>
            </a:pPr>
            <a:r>
              <a:rPr lang="en-US" sz="2000" dirty="0">
                <a:effectLst/>
                <a:latin typeface="+mj-lt"/>
                <a:hlinkClick r:id="rId5"/>
              </a:rPr>
              <a:t>Thoracic organ transplantation</a:t>
            </a:r>
            <a:endParaRPr lang="en-US" sz="2000" dirty="0">
              <a:latin typeface="+mj-lt"/>
            </a:endParaRPr>
          </a:p>
          <a:p>
            <a:pPr marL="285750" indent="-285750">
              <a:buFontTx/>
              <a:buChar char="-"/>
            </a:pPr>
            <a:r>
              <a:rPr lang="en-US" sz="2000" i="1" dirty="0">
                <a:solidFill>
                  <a:srgbClr val="1F1F1F"/>
                </a:solidFill>
                <a:effectLst/>
                <a:latin typeface="+mj-lt"/>
                <a:hlinkClick r:id="rId6"/>
              </a:rPr>
              <a:t>What Predicts Long-Term Survival After</a:t>
            </a:r>
            <a:r>
              <a:rPr lang="en-US" sz="2000" dirty="0">
                <a:solidFill>
                  <a:srgbClr val="1F1F1F"/>
                </a:solidFill>
                <a:latin typeface="+mj-lt"/>
                <a:hlinkClick r:id="rId6"/>
              </a:rPr>
              <a:t> </a:t>
            </a:r>
            <a:r>
              <a:rPr lang="en-US" sz="2000" i="1" dirty="0">
                <a:solidFill>
                  <a:srgbClr val="1F1F1F"/>
                </a:solidFill>
                <a:effectLst/>
                <a:latin typeface="+mj-lt"/>
                <a:hlinkClick r:id="rId6"/>
              </a:rPr>
              <a:t>Heart Transplantation?</a:t>
            </a:r>
            <a:endParaRPr lang="en-US" sz="2000" i="1" dirty="0">
              <a:solidFill>
                <a:srgbClr val="1F1F1F"/>
              </a:solidFill>
              <a:latin typeface="+mj-lt"/>
            </a:endParaRPr>
          </a:p>
          <a:p>
            <a:pPr marL="285750" indent="-285750">
              <a:buFontTx/>
              <a:buChar char="-"/>
            </a:pPr>
            <a:r>
              <a:rPr lang="en-US" sz="2000" dirty="0">
                <a:effectLst/>
                <a:latin typeface="Helvetica" pitchFamily="2" charset="0"/>
                <a:hlinkClick r:id="rId7"/>
              </a:rPr>
              <a:t>Temporal shift and predictive performance of machine learning for heart transplant outcomes</a:t>
            </a:r>
            <a:endParaRPr lang="en-US" sz="2000" dirty="0">
              <a:effectLst/>
              <a:latin typeface="Helvetica" pitchFamily="2" charset="0"/>
            </a:endParaRPr>
          </a:p>
          <a:p>
            <a:endParaRPr lang="en-US" sz="2000" dirty="0">
              <a:effectLst/>
              <a:latin typeface="+mj-lt"/>
            </a:endParaRPr>
          </a:p>
          <a:p>
            <a:pPr marL="285750" indent="-285750">
              <a:buFontTx/>
              <a:buChar char="-"/>
            </a:pPr>
            <a:endParaRPr lang="en-US" dirty="0">
              <a:effectLst/>
              <a:latin typeface="+mj-lt"/>
            </a:endParaRPr>
          </a:p>
          <a:p>
            <a:pPr marL="285750" indent="-285750">
              <a:buFontTx/>
              <a:buChar char="-"/>
            </a:pPr>
            <a:endParaRPr lang="en-US" dirty="0"/>
          </a:p>
        </p:txBody>
      </p:sp>
    </p:spTree>
    <p:extLst>
      <p:ext uri="{BB962C8B-B14F-4D97-AF65-F5344CB8AC3E}">
        <p14:creationId xmlns:p14="http://schemas.microsoft.com/office/powerpoint/2010/main" val="1722986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2207</TotalTime>
  <Words>3059</Words>
  <Application>Microsoft Macintosh PowerPoint</Application>
  <PresentationFormat>Widescreen</PresentationFormat>
  <Paragraphs>204</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__fkGroteskNeue_598ab8</vt:lpstr>
      <vt:lpstr>Aptos</vt:lpstr>
      <vt:lpstr>Aptos Display</vt:lpstr>
      <vt:lpstr>Arial</vt:lpstr>
      <vt:lpstr>Google Sans</vt:lpstr>
      <vt:lpstr>Helvetica</vt:lpstr>
      <vt:lpstr>Helvetica Neue</vt:lpstr>
      <vt:lpstr>Segoe UI</vt:lpstr>
      <vt:lpstr>system-ui</vt:lpstr>
      <vt:lpstr>Office Theme</vt:lpstr>
      <vt:lpstr>PowerPoint Presentation</vt:lpstr>
      <vt:lpstr>Overall Data Description</vt:lpstr>
      <vt:lpstr>Heart Transplant Data</vt:lpstr>
      <vt:lpstr>Additional Data Cleaning</vt:lpstr>
      <vt:lpstr>Donor's most frequently used medications.</vt:lpstr>
      <vt:lpstr>Univariate Plots for Gender &amp; Ethnicity</vt:lpstr>
      <vt:lpstr>Blood Type &amp; Functional Status</vt:lpstr>
      <vt:lpstr>Death Circumstance/Mechanism &amp; Age</vt:lpstr>
      <vt:lpstr>Patient’s Experience</vt:lpstr>
      <vt:lpstr>Multivariate Plots:  Ethnicity &amp; Age &amp; Gender</vt:lpstr>
      <vt:lpstr>Multivariate Plots: Ethnicity &amp; Age &amp; Gender</vt:lpstr>
      <vt:lpstr>Correlation Heatmap</vt:lpstr>
      <vt:lpstr>Data Wrangling </vt:lpstr>
      <vt:lpstr>Additional Data Cleaning Cont…</vt:lpstr>
      <vt:lpstr>Machine Learning</vt:lpstr>
      <vt:lpstr>Machine Learning</vt:lpstr>
      <vt:lpstr>Machine Learning</vt:lpstr>
      <vt:lpstr>Machine Learning</vt:lpstr>
      <vt:lpstr>Recurring Important Features</vt:lpstr>
      <vt:lpstr>Survival Analysis</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Pak, Erik</dc:creator>
  <cp:lastModifiedBy>Erik Pak</cp:lastModifiedBy>
  <cp:revision>19</cp:revision>
  <dcterms:created xsi:type="dcterms:W3CDTF">2024-05-12T16:59:59Z</dcterms:created>
  <dcterms:modified xsi:type="dcterms:W3CDTF">2024-11-26T04:06:09Z</dcterms:modified>
</cp:coreProperties>
</file>